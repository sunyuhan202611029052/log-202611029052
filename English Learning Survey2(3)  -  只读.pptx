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5"/>
  </p:notesMasterIdLst>
  <p:sldIdLst>
    <p:sldId id="265" r:id="rId3"/>
    <p:sldId id="266" r:id="rId4"/>
    <p:sldId id="264" r:id="rId5"/>
    <p:sldId id="256" r:id="rId6"/>
    <p:sldId id="257" r:id="rId7"/>
    <p:sldId id="258" r:id="rId8"/>
    <p:sldId id="259" r:id="rId9"/>
    <p:sldId id="260" r:id="rId10"/>
    <p:sldId id="267" r:id="rId11"/>
    <p:sldId id="261" r:id="rId12"/>
    <p:sldId id="262" r:id="rId13"/>
    <p:sldId id="263"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4676" autoAdjust="0"/>
  </p:normalViewPr>
  <p:slideViewPr>
    <p:cSldViewPr snapToGrid="0">
      <p:cViewPr varScale="1">
        <p:scale>
          <a:sx n="102" d="100"/>
          <a:sy n="102" d="100"/>
        </p:scale>
        <p:origin x="368" y="72"/>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000" b="0" i="0" u="none" strike="noStrike" kern="1200" spc="0" baseline="0">
                <a:solidFill>
                  <a:schemeClr val="tx1">
                    <a:lumMod val="65000"/>
                    <a:lumOff val="35000"/>
                  </a:schemeClr>
                </a:solidFill>
                <a:latin typeface="+mn-lt"/>
                <a:ea typeface="+mn-ea"/>
                <a:cs typeface="+mn-cs"/>
              </a:defRPr>
            </a:pPr>
            <a:r>
              <a:rPr lang="en-US" altLang="zh-CN" sz="3000" baseline="0" dirty="0"/>
              <a:t>Students' feeling about English</a:t>
            </a:r>
          </a:p>
        </c:rich>
      </c:tx>
      <c:layout>
        <c:manualLayout>
          <c:xMode val="edge"/>
          <c:yMode val="edge"/>
          <c:x val="0.18216216216216216"/>
          <c:y val="1.6621299306972214E-2"/>
        </c:manualLayout>
      </c:layout>
      <c:overlay val="0"/>
      <c:spPr>
        <a:noFill/>
        <a:ln>
          <a:noFill/>
        </a:ln>
        <a:effectLst/>
      </c:spPr>
      <c:txPr>
        <a:bodyPr rot="0" spcFirstLastPara="1" vertOverflow="ellipsis" vert="horz" wrap="square" anchor="ctr" anchorCtr="1"/>
        <a:lstStyle/>
        <a:p>
          <a:pPr>
            <a:defRPr sz="3000" b="0" i="0" u="none" strike="noStrike" kern="1200" spc="0" baseline="0">
              <a:solidFill>
                <a:schemeClr val="tx1">
                  <a:lumMod val="65000"/>
                  <a:lumOff val="35000"/>
                </a:schemeClr>
              </a:solidFill>
              <a:latin typeface="+mn-lt"/>
              <a:ea typeface="+mn-ea"/>
              <a:cs typeface="+mn-cs"/>
            </a:defRPr>
          </a:pPr>
          <a:endParaRPr lang="zh-CN"/>
        </a:p>
      </c:txPr>
    </c:title>
    <c:autoTitleDeleted val="0"/>
    <c:view3D>
      <c:rotX val="75"/>
      <c:rotY val="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1.7436791630340016E-2"/>
          <c:y val="0.12939690858790193"/>
          <c:w val="0.96163905841325192"/>
          <c:h val="0.7634633926633323"/>
        </c:manualLayout>
      </c:layout>
      <c:pie3DChart>
        <c:varyColors val="1"/>
        <c:ser>
          <c:idx val="0"/>
          <c:order val="0"/>
          <c:tx>
            <c:strRef>
              <c:f>Sheet1!$B$1</c:f>
              <c:strCache>
                <c:ptCount val="1"/>
                <c:pt idx="0">
                  <c:v>Fun/Headache</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1E03-457B-8183-25B740262558}"/>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1E03-457B-8183-25B740262558}"/>
              </c:ext>
            </c:extLst>
          </c:dPt>
          <c:cat>
            <c:strRef>
              <c:f>Sheet1!$A$2:$A$3</c:f>
              <c:strCache>
                <c:ptCount val="2"/>
                <c:pt idx="0">
                  <c:v>Fun</c:v>
                </c:pt>
                <c:pt idx="1">
                  <c:v>Headache</c:v>
                </c:pt>
              </c:strCache>
            </c:strRef>
          </c:cat>
          <c:val>
            <c:numRef>
              <c:f>Sheet1!$B$2:$B$3</c:f>
              <c:numCache>
                <c:formatCode>0.00%</c:formatCode>
                <c:ptCount val="2"/>
                <c:pt idx="0">
                  <c:v>0.4667</c:v>
                </c:pt>
                <c:pt idx="1">
                  <c:v>0.5333</c:v>
                </c:pt>
              </c:numCache>
            </c:numRef>
          </c:val>
          <c:extLst>
            <c:ext xmlns:c16="http://schemas.microsoft.com/office/drawing/2014/chart" uri="{C3380CC4-5D6E-409C-BE32-E72D297353CC}">
              <c16:uniqueId val="{00000000-F9C0-4518-A993-BE8E19499FBC}"/>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15928784006397539"/>
          <c:y val="1.116486657369058E-2"/>
        </c:manualLayout>
      </c:layout>
      <c:overlay val="0"/>
      <c:spPr>
        <a:noFill/>
        <a:ln>
          <a:noFill/>
        </a:ln>
        <a:effectLst/>
      </c:spPr>
      <c:txPr>
        <a:bodyPr rot="0" spcFirstLastPara="1" vertOverflow="ellipsis" vert="horz" wrap="square" anchor="ctr" anchorCtr="1"/>
        <a:lstStyle/>
        <a:p>
          <a:pPr>
            <a:defRPr sz="3000" b="0" i="0" u="none" strike="noStrike" kern="1200" spc="0" baseline="0">
              <a:solidFill>
                <a:schemeClr val="tx1">
                  <a:lumMod val="65000"/>
                  <a:lumOff val="35000"/>
                </a:schemeClr>
              </a:solidFill>
              <a:latin typeface="+mn-lt"/>
              <a:ea typeface="+mn-ea"/>
              <a:cs typeface="+mn-cs"/>
            </a:defRPr>
          </a:pPr>
          <a:endParaRPr lang="zh-CN"/>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Main difficulties of learning English</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396D-4C61-9125-7DA0BE26AD8E}"/>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9447-47D3-A954-B563FD6F9CBC}"/>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9447-47D3-A954-B563FD6F9CBC}"/>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9447-47D3-A954-B563FD6F9CBC}"/>
              </c:ext>
            </c:extLst>
          </c:dPt>
          <c:cat>
            <c:strRef>
              <c:f>Sheet1!$A$2:$A$5</c:f>
              <c:strCache>
                <c:ptCount val="4"/>
                <c:pt idx="0">
                  <c:v>Excessive vocabulary</c:v>
                </c:pt>
                <c:pt idx="1">
                  <c:v>Learning is difficult.</c:v>
                </c:pt>
                <c:pt idx="2">
                  <c:v>Difficult to understand</c:v>
                </c:pt>
                <c:pt idx="3">
                  <c:v>Other difficulties</c:v>
                </c:pt>
              </c:strCache>
            </c:strRef>
          </c:cat>
          <c:val>
            <c:numRef>
              <c:f>Sheet1!$B$2:$B$5</c:f>
              <c:numCache>
                <c:formatCode>0.00%</c:formatCode>
                <c:ptCount val="4"/>
                <c:pt idx="0">
                  <c:v>0.86670000000000003</c:v>
                </c:pt>
                <c:pt idx="1">
                  <c:v>0.4667</c:v>
                </c:pt>
                <c:pt idx="2">
                  <c:v>0.33329999999999999</c:v>
                </c:pt>
                <c:pt idx="3" formatCode="General">
                  <c:v>1.2</c:v>
                </c:pt>
              </c:numCache>
            </c:numRef>
          </c:val>
          <c:extLst>
            <c:ext xmlns:c16="http://schemas.microsoft.com/office/drawing/2014/chart" uri="{C3380CC4-5D6E-409C-BE32-E72D297353CC}">
              <c16:uniqueId val="{00000000-396D-4C61-9125-7DA0BE26AD8E}"/>
            </c:ext>
          </c:extLst>
        </c:ser>
        <c:dLbls>
          <c:showLegendKey val="0"/>
          <c:showVal val="0"/>
          <c:showCatName val="0"/>
          <c:showSerName val="0"/>
          <c:showPercent val="0"/>
          <c:showBubbleSize val="0"/>
          <c:showLeaderLines val="1"/>
        </c:dLbls>
      </c:pie3DChart>
      <c:spPr>
        <a:noFill/>
        <a:ln>
          <a:noFill/>
        </a:ln>
        <a:effectLst/>
      </c:spPr>
    </c:plotArea>
    <c:legend>
      <c:legendPos val="b"/>
      <c:layout>
        <c:manualLayout>
          <c:xMode val="edge"/>
          <c:yMode val="edge"/>
          <c:x val="0.13188264621800197"/>
          <c:y val="0.821422970156927"/>
          <c:w val="0.77308836722556551"/>
          <c:h val="0.16517918995464426"/>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7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bar"/>
        <c:grouping val="clustered"/>
        <c:varyColors val="0"/>
        <c:ser>
          <c:idx val="0"/>
          <c:order val="0"/>
          <c:tx>
            <c:strRef>
              <c:f>Sheet1!$B$1</c:f>
              <c:strCache>
                <c:ptCount val="1"/>
                <c:pt idx="0">
                  <c:v>Like English</c:v>
                </c:pt>
              </c:strCache>
            </c:strRef>
          </c:tx>
          <c:spPr>
            <a:solidFill>
              <a:schemeClr val="accent1"/>
            </a:solidFill>
            <a:ln w="19050">
              <a:solidFill>
                <a:schemeClr val="lt1"/>
              </a:solidFill>
            </a:ln>
            <a:effectLst/>
          </c:spPr>
          <c:invertIfNegative val="0"/>
          <c:cat>
            <c:strRef>
              <c:f>Sheet1!$A$2:$A$5</c:f>
              <c:strCache>
                <c:ptCount val="4"/>
                <c:pt idx="0">
                  <c:v>Understand culture</c:v>
                </c:pt>
                <c:pt idx="1">
                  <c:v>Improve oneself</c:v>
                </c:pt>
                <c:pt idx="2">
                  <c:v>Convenient for socializing</c:v>
                </c:pt>
                <c:pt idx="3">
                  <c:v>Other</c:v>
                </c:pt>
              </c:strCache>
            </c:strRef>
          </c:cat>
          <c:val>
            <c:numRef>
              <c:f>Sheet1!$B$2:$B$5</c:f>
              <c:numCache>
                <c:formatCode>0.00%</c:formatCode>
                <c:ptCount val="4"/>
                <c:pt idx="0" formatCode="0%">
                  <c:v>0.6</c:v>
                </c:pt>
                <c:pt idx="1">
                  <c:v>0.66669999999999996</c:v>
                </c:pt>
                <c:pt idx="2">
                  <c:v>0.66669999999999996</c:v>
                </c:pt>
                <c:pt idx="3">
                  <c:v>0.33329999999999999</c:v>
                </c:pt>
              </c:numCache>
            </c:numRef>
          </c:val>
          <c:extLst>
            <c:ext xmlns:c16="http://schemas.microsoft.com/office/drawing/2014/chart" uri="{C3380CC4-5D6E-409C-BE32-E72D297353CC}">
              <c16:uniqueId val="{00000000-B462-4525-8BF4-328F62FC46DE}"/>
            </c:ext>
          </c:extLst>
        </c:ser>
        <c:dLbls>
          <c:showLegendKey val="0"/>
          <c:showVal val="0"/>
          <c:showCatName val="0"/>
          <c:showSerName val="0"/>
          <c:showPercent val="0"/>
          <c:showBubbleSize val="0"/>
        </c:dLbls>
        <c:gapWidth val="150"/>
        <c:axId val="1968102080"/>
        <c:axId val="1878713648"/>
      </c:barChart>
      <c:valAx>
        <c:axId val="1878713648"/>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2300" b="0" i="0" u="none" strike="noStrike" kern="1200" baseline="0">
                <a:solidFill>
                  <a:schemeClr val="tx1">
                    <a:lumMod val="65000"/>
                    <a:lumOff val="35000"/>
                  </a:schemeClr>
                </a:solidFill>
                <a:latin typeface="+mn-lt"/>
                <a:ea typeface="+mn-ea"/>
                <a:cs typeface="+mn-cs"/>
              </a:defRPr>
            </a:pPr>
            <a:endParaRPr lang="zh-CN"/>
          </a:p>
        </c:txPr>
        <c:crossAx val="1968102080"/>
        <c:crosses val="autoZero"/>
        <c:crossBetween val="between"/>
      </c:valAx>
      <c:catAx>
        <c:axId val="196810208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300" b="0" i="0" u="none" strike="noStrike" kern="1200" baseline="0">
                <a:solidFill>
                  <a:srgbClr val="FF0000"/>
                </a:solidFill>
                <a:latin typeface="+mn-lt"/>
                <a:ea typeface="+mn-ea"/>
                <a:cs typeface="+mn-cs"/>
              </a:defRPr>
            </a:pPr>
            <a:endParaRPr lang="zh-CN"/>
          </a:p>
        </c:txPr>
        <c:crossAx val="187871364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23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300" baseline="0"/>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morning/afternoon, teachers and classmates. Today I'd like to share my social survey about the difficulties students face when learning English and the practical strategies we can use.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presentation has four parts. First, the background and purpose of the survey. Second, how I collected the data. Third, the main difficulties students face. Finally, practical learning strategies and a short conclusion.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English is important for our study and future, but many of us still struggle. There are lots of tips online, but it is hard to tell which ones actually work. So I did this survey to find out what troubles students most and what methods help.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 used an online questionnaire. I asked students in our grade from different majors. I collected about XX valid responses. The number here should be replaced with your real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Here are the top three difficulties. The biggest one is memorizing vocabulary — 70 percent of students say they forget words quickly. Next is listening and speaking: they cannot follow fast speech and are afraid to speak. Third is grammar — the rules feel confusing. We will now look at how to deal with each.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the strategies. For vocabulary, review on a schedule — day 1, day 3, day 7. For listening and speaking, listen to short clips and repeat out loud every day. For grammar, learn through examples instead of memorizing rules. The most important point: small daily practice works better than cramming before a test.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conclude: most of us struggle with the same three things — vocabulary, listening, and grammar. With the right methods and daily practice, we can improve. The most important message: start today, even just 20 minutes a day.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Thank you for listening. I am happy to take any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chart" Target="../charts/chart2.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5D863-27B6-923C-7323-86D3E36082BA}"/>
            </a:ext>
          </a:extLst>
        </p:cNvPr>
        <p:cNvGrpSpPr/>
        <p:nvPr/>
      </p:nvGrpSpPr>
      <p:grpSpPr>
        <a:xfrm>
          <a:off x="0" y="0"/>
          <a:ext cx="0" cy="0"/>
          <a:chOff x="0" y="0"/>
          <a:chExt cx="0" cy="0"/>
        </a:xfrm>
      </p:grpSpPr>
      <p:pic>
        <p:nvPicPr>
          <p:cNvPr id="18" name="图片 17">
            <a:extLst>
              <a:ext uri="{FF2B5EF4-FFF2-40B4-BE49-F238E27FC236}">
                <a16:creationId xmlns:a16="http://schemas.microsoft.com/office/drawing/2014/main" id="{61C497E3-A033-4D32-E2B6-6D6BFD6EA2FC}"/>
              </a:ext>
            </a:extLst>
          </p:cNvPr>
          <p:cNvPicPr>
            <a:picLocks noChangeAspect="1"/>
          </p:cNvPicPr>
          <p:nvPr/>
        </p:nvPicPr>
        <p:blipFill>
          <a:blip r:embed="rId2"/>
          <a:stretch>
            <a:fillRect/>
          </a:stretch>
        </p:blipFill>
        <p:spPr>
          <a:xfrm>
            <a:off x="-2159000" y="-2082478"/>
            <a:ext cx="17310100" cy="9767455"/>
          </a:xfrm>
          <a:prstGeom prst="rect">
            <a:avLst/>
          </a:prstGeom>
        </p:spPr>
      </p:pic>
      <p:sp>
        <p:nvSpPr>
          <p:cNvPr id="15" name="任意多边形: 形状 14">
            <a:extLst>
              <a:ext uri="{FF2B5EF4-FFF2-40B4-BE49-F238E27FC236}">
                <a16:creationId xmlns:a16="http://schemas.microsoft.com/office/drawing/2014/main" id="{1B5B4F5B-DB24-610B-ADDC-DF6EE39BE164}"/>
              </a:ext>
            </a:extLst>
          </p:cNvPr>
          <p:cNvSpPr/>
          <p:nvPr/>
        </p:nvSpPr>
        <p:spPr>
          <a:xfrm>
            <a:off x="-6720663" y="0"/>
            <a:ext cx="19062700" cy="3429000"/>
          </a:xfrm>
          <a:custGeom>
            <a:avLst/>
            <a:gdLst/>
            <a:ahLst/>
            <a:cxnLst/>
            <a:rect l="l" t="t" r="r" b="b"/>
            <a:pathLst>
              <a:path w="17589500" h="3429000">
                <a:moveTo>
                  <a:pt x="10542818" y="3284607"/>
                </a:moveTo>
                <a:lnTo>
                  <a:pt x="10600868" y="3429000"/>
                </a:lnTo>
                <a:lnTo>
                  <a:pt x="10512620" y="3429000"/>
                </a:lnTo>
                <a:close/>
                <a:moveTo>
                  <a:pt x="0" y="0"/>
                </a:moveTo>
                <a:lnTo>
                  <a:pt x="17589500" y="0"/>
                </a:lnTo>
                <a:lnTo>
                  <a:pt x="17589500" y="3429000"/>
                </a:lnTo>
                <a:lnTo>
                  <a:pt x="14764757" y="3429000"/>
                </a:lnTo>
                <a:lnTo>
                  <a:pt x="14854666" y="2998262"/>
                </a:lnTo>
                <a:lnTo>
                  <a:pt x="14675477" y="2998262"/>
                </a:lnTo>
                <a:lnTo>
                  <a:pt x="14604634" y="3335209"/>
                </a:lnTo>
                <a:lnTo>
                  <a:pt x="14267092" y="3335209"/>
                </a:lnTo>
                <a:lnTo>
                  <a:pt x="14337340" y="2998262"/>
                </a:lnTo>
                <a:lnTo>
                  <a:pt x="14158150" y="2998262"/>
                </a:lnTo>
                <a:lnTo>
                  <a:pt x="14067948" y="3429000"/>
                </a:lnTo>
                <a:lnTo>
                  <a:pt x="13781367" y="3429000"/>
                </a:lnTo>
                <a:lnTo>
                  <a:pt x="13749171" y="3407093"/>
                </a:lnTo>
                <a:cubicBezTo>
                  <a:pt x="13717222" y="3389531"/>
                  <a:pt x="13676146" y="3369935"/>
                  <a:pt x="13625941" y="3348306"/>
                </a:cubicBezTo>
                <a:cubicBezTo>
                  <a:pt x="13559266" y="3319334"/>
                  <a:pt x="13516205" y="3296514"/>
                  <a:pt x="13496758" y="3279845"/>
                </a:cubicBezTo>
                <a:cubicBezTo>
                  <a:pt x="13477312" y="3263573"/>
                  <a:pt x="13467588" y="3242935"/>
                  <a:pt x="13467588" y="3217932"/>
                </a:cubicBezTo>
                <a:cubicBezTo>
                  <a:pt x="13467588" y="3191342"/>
                  <a:pt x="13478205" y="3169315"/>
                  <a:pt x="13499437" y="3151853"/>
                </a:cubicBezTo>
                <a:cubicBezTo>
                  <a:pt x="13520670" y="3134390"/>
                  <a:pt x="13556091" y="3125659"/>
                  <a:pt x="13605701" y="3125659"/>
                </a:cubicBezTo>
                <a:cubicBezTo>
                  <a:pt x="13656104" y="3125659"/>
                  <a:pt x="13694204" y="3136771"/>
                  <a:pt x="13720001" y="3158996"/>
                </a:cubicBezTo>
                <a:cubicBezTo>
                  <a:pt x="13745798" y="3181221"/>
                  <a:pt x="13760879" y="3213170"/>
                  <a:pt x="13765244" y="3254842"/>
                </a:cubicBezTo>
                <a:lnTo>
                  <a:pt x="13937290" y="3247103"/>
                </a:lnTo>
                <a:cubicBezTo>
                  <a:pt x="13931733" y="3167331"/>
                  <a:pt x="13900876" y="3103434"/>
                  <a:pt x="13844718" y="3055412"/>
                </a:cubicBezTo>
                <a:cubicBezTo>
                  <a:pt x="13788560" y="3007390"/>
                  <a:pt x="13709285" y="2983379"/>
                  <a:pt x="13606891" y="2983379"/>
                </a:cubicBezTo>
                <a:cubicBezTo>
                  <a:pt x="13506085" y="2983379"/>
                  <a:pt x="13429091" y="3007589"/>
                  <a:pt x="13375910" y="3056007"/>
                </a:cubicBezTo>
                <a:cubicBezTo>
                  <a:pt x="13322729" y="3104426"/>
                  <a:pt x="13296138" y="3165346"/>
                  <a:pt x="13296138" y="3238768"/>
                </a:cubicBezTo>
                <a:cubicBezTo>
                  <a:pt x="13296138" y="3280837"/>
                  <a:pt x="13305068" y="3317548"/>
                  <a:pt x="13322927" y="3348901"/>
                </a:cubicBezTo>
                <a:cubicBezTo>
                  <a:pt x="13340787" y="3380254"/>
                  <a:pt x="13365293" y="3405753"/>
                  <a:pt x="13396448" y="3425399"/>
                </a:cubicBezTo>
                <a:lnTo>
                  <a:pt x="13403710" y="3429000"/>
                </a:lnTo>
                <a:lnTo>
                  <a:pt x="13084191" y="3429000"/>
                </a:lnTo>
                <a:lnTo>
                  <a:pt x="13174099" y="2998262"/>
                </a:lnTo>
                <a:lnTo>
                  <a:pt x="12994910" y="2998262"/>
                </a:lnTo>
                <a:lnTo>
                  <a:pt x="12904708" y="3429000"/>
                </a:lnTo>
                <a:lnTo>
                  <a:pt x="12353693" y="3429000"/>
                </a:lnTo>
                <a:lnTo>
                  <a:pt x="12443650" y="2998262"/>
                </a:lnTo>
                <a:lnTo>
                  <a:pt x="12264461" y="2998262"/>
                </a:lnTo>
                <a:lnTo>
                  <a:pt x="12174259" y="3429000"/>
                </a:lnTo>
                <a:lnTo>
                  <a:pt x="11995672" y="3429000"/>
                </a:lnTo>
                <a:lnTo>
                  <a:pt x="12000738" y="3404860"/>
                </a:lnTo>
                <a:lnTo>
                  <a:pt x="11610213" y="3404860"/>
                </a:lnTo>
                <a:lnTo>
                  <a:pt x="11605188" y="3429000"/>
                </a:lnTo>
                <a:lnTo>
                  <a:pt x="11364732" y="3429000"/>
                </a:lnTo>
                <a:lnTo>
                  <a:pt x="11366283" y="3412748"/>
                </a:lnTo>
                <a:cubicBezTo>
                  <a:pt x="11373130" y="3378319"/>
                  <a:pt x="11383399" y="3345329"/>
                  <a:pt x="11397091" y="3313778"/>
                </a:cubicBezTo>
                <a:cubicBezTo>
                  <a:pt x="11424475" y="3250675"/>
                  <a:pt x="11462377" y="3204042"/>
                  <a:pt x="11510796" y="3173879"/>
                </a:cubicBezTo>
                <a:cubicBezTo>
                  <a:pt x="11559215" y="3143717"/>
                  <a:pt x="11612396" y="3128635"/>
                  <a:pt x="11670340" y="3128635"/>
                </a:cubicBezTo>
                <a:cubicBezTo>
                  <a:pt x="11719949" y="3128635"/>
                  <a:pt x="11761125" y="3141137"/>
                  <a:pt x="11793867" y="3166140"/>
                </a:cubicBezTo>
                <a:cubicBezTo>
                  <a:pt x="11826609" y="3191143"/>
                  <a:pt x="11850322" y="3228251"/>
                  <a:pt x="11865007" y="3277464"/>
                </a:cubicBezTo>
                <a:lnTo>
                  <a:pt x="12032290" y="3258414"/>
                </a:lnTo>
                <a:cubicBezTo>
                  <a:pt x="12012446" y="3168720"/>
                  <a:pt x="11972064" y="3100457"/>
                  <a:pt x="11911143" y="3053626"/>
                </a:cubicBezTo>
                <a:cubicBezTo>
                  <a:pt x="11850223" y="3006795"/>
                  <a:pt x="11769360" y="2983379"/>
                  <a:pt x="11668554" y="2983379"/>
                </a:cubicBezTo>
                <a:cubicBezTo>
                  <a:pt x="11567748" y="2983379"/>
                  <a:pt x="11480038" y="3009176"/>
                  <a:pt x="11405425" y="3060770"/>
                </a:cubicBezTo>
                <a:cubicBezTo>
                  <a:pt x="11330813" y="3112364"/>
                  <a:pt x="11273266" y="3184992"/>
                  <a:pt x="11232785" y="3278654"/>
                </a:cubicBezTo>
                <a:lnTo>
                  <a:pt x="11201615" y="3429000"/>
                </a:lnTo>
                <a:lnTo>
                  <a:pt x="11038101" y="3429000"/>
                </a:lnTo>
                <a:lnTo>
                  <a:pt x="11128010" y="2998262"/>
                </a:lnTo>
                <a:lnTo>
                  <a:pt x="10961322" y="2998262"/>
                </a:lnTo>
                <a:lnTo>
                  <a:pt x="10871311" y="3429000"/>
                </a:lnTo>
                <a:lnTo>
                  <a:pt x="10777259" y="3429000"/>
                </a:lnTo>
                <a:lnTo>
                  <a:pt x="10602944" y="2998262"/>
                </a:lnTo>
                <a:lnTo>
                  <a:pt x="10435066" y="2998262"/>
                </a:lnTo>
                <a:lnTo>
                  <a:pt x="10345158" y="3429000"/>
                </a:lnTo>
                <a:lnTo>
                  <a:pt x="10162235" y="3429000"/>
                </a:lnTo>
                <a:lnTo>
                  <a:pt x="10180272" y="3342353"/>
                </a:lnTo>
                <a:lnTo>
                  <a:pt x="9728430" y="3342353"/>
                </a:lnTo>
                <a:lnTo>
                  <a:pt x="9770102" y="3144114"/>
                </a:lnTo>
                <a:lnTo>
                  <a:pt x="10237422" y="3144114"/>
                </a:lnTo>
                <a:lnTo>
                  <a:pt x="10267783" y="2998262"/>
                </a:lnTo>
                <a:lnTo>
                  <a:pt x="9620679" y="2998262"/>
                </a:lnTo>
                <a:lnTo>
                  <a:pt x="9530770" y="3429000"/>
                </a:lnTo>
                <a:lnTo>
                  <a:pt x="0" y="342900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9600" b="1" i="0" u="none" strike="noStrike" kern="0" cap="none" spc="0" normalizeH="0" baseline="0" noProof="0" dirty="0">
              <a:ln>
                <a:noFill/>
              </a:ln>
              <a:solidFill>
                <a:srgbClr val="FFFFFF"/>
              </a:solidFill>
              <a:effectLst/>
              <a:uLnTx/>
              <a:uFillTx/>
              <a:latin typeface="Arial"/>
              <a:ea typeface="宋体" panose="02010600030101010101" pitchFamily="2" charset="-122"/>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9600" b="1" i="0" u="none" strike="noStrike" kern="0" cap="none" spc="0" normalizeH="0" baseline="0" noProof="0" dirty="0">
              <a:ln>
                <a:noFill/>
              </a:ln>
              <a:solidFill>
                <a:srgbClr val="FFFFFF"/>
              </a:solidFill>
              <a:effectLst/>
              <a:uLnTx/>
              <a:uFillTx/>
              <a:latin typeface="Arial"/>
              <a:ea typeface="宋体" panose="02010600030101010101" pitchFamily="2" charset="-122"/>
              <a:cs typeface="+mn-cs"/>
              <a:sym typeface="Arial"/>
            </a:endParaRPr>
          </a:p>
        </p:txBody>
      </p:sp>
      <p:sp>
        <p:nvSpPr>
          <p:cNvPr id="16" name="任意多边形: 形状 15">
            <a:extLst>
              <a:ext uri="{FF2B5EF4-FFF2-40B4-BE49-F238E27FC236}">
                <a16:creationId xmlns:a16="http://schemas.microsoft.com/office/drawing/2014/main" id="{FB4F5863-4AD1-29C6-18DA-5A12B9D4A966}"/>
              </a:ext>
            </a:extLst>
          </p:cNvPr>
          <p:cNvSpPr/>
          <p:nvPr/>
        </p:nvSpPr>
        <p:spPr>
          <a:xfrm>
            <a:off x="-831516" y="3429000"/>
            <a:ext cx="19062700" cy="3429000"/>
          </a:xfrm>
          <a:custGeom>
            <a:avLst/>
            <a:gdLst/>
            <a:ahLst/>
            <a:cxnLst/>
            <a:rect l="l" t="t" r="r" b="b"/>
            <a:pathLst>
              <a:path w="17589500" h="3429000">
                <a:moveTo>
                  <a:pt x="5929133" y="0"/>
                </a:moveTo>
                <a:lnTo>
                  <a:pt x="6169588" y="0"/>
                </a:lnTo>
                <a:lnTo>
                  <a:pt x="6144253" y="121712"/>
                </a:lnTo>
                <a:lnTo>
                  <a:pt x="6366899" y="121712"/>
                </a:lnTo>
                <a:lnTo>
                  <a:pt x="6340111" y="251490"/>
                </a:lnTo>
                <a:cubicBezTo>
                  <a:pt x="6310742" y="266571"/>
                  <a:pt x="6275816" y="279569"/>
                  <a:pt x="6235336" y="290483"/>
                </a:cubicBezTo>
                <a:cubicBezTo>
                  <a:pt x="6194854" y="301397"/>
                  <a:pt x="6155365" y="306854"/>
                  <a:pt x="6116868" y="306854"/>
                </a:cubicBezTo>
                <a:cubicBezTo>
                  <a:pt x="6052574" y="306854"/>
                  <a:pt x="6003759" y="289293"/>
                  <a:pt x="5970422" y="254169"/>
                </a:cubicBezTo>
                <a:cubicBezTo>
                  <a:pt x="5937084" y="219046"/>
                  <a:pt x="5920414" y="164773"/>
                  <a:pt x="5920414" y="91351"/>
                </a:cubicBezTo>
                <a:close/>
                <a:moveTo>
                  <a:pt x="5341659" y="0"/>
                </a:moveTo>
                <a:lnTo>
                  <a:pt x="5435711" y="0"/>
                </a:lnTo>
                <a:lnTo>
                  <a:pt x="5403684" y="153264"/>
                </a:lnTo>
                <a:close/>
                <a:moveTo>
                  <a:pt x="0" y="0"/>
                </a:moveTo>
                <a:lnTo>
                  <a:pt x="4095170" y="0"/>
                </a:lnTo>
                <a:lnTo>
                  <a:pt x="4002913" y="441990"/>
                </a:lnTo>
                <a:lnTo>
                  <a:pt x="4684546" y="441990"/>
                </a:lnTo>
                <a:lnTo>
                  <a:pt x="4715503" y="296139"/>
                </a:lnTo>
                <a:lnTo>
                  <a:pt x="4207701" y="296139"/>
                </a:lnTo>
                <a:lnTo>
                  <a:pt x="4262470" y="59204"/>
                </a:lnTo>
                <a:lnTo>
                  <a:pt x="4714312" y="59204"/>
                </a:lnTo>
                <a:lnTo>
                  <a:pt x="4726636" y="0"/>
                </a:lnTo>
                <a:lnTo>
                  <a:pt x="4909558" y="0"/>
                </a:lnTo>
                <a:lnTo>
                  <a:pt x="4817301" y="441990"/>
                </a:lnTo>
                <a:lnTo>
                  <a:pt x="4984584" y="441990"/>
                </a:lnTo>
                <a:lnTo>
                  <a:pt x="5077020" y="0"/>
                </a:lnTo>
                <a:lnTo>
                  <a:pt x="5165268" y="0"/>
                </a:lnTo>
                <a:lnTo>
                  <a:pt x="5342961" y="441990"/>
                </a:lnTo>
                <a:lnTo>
                  <a:pt x="5510245" y="441990"/>
                </a:lnTo>
                <a:lnTo>
                  <a:pt x="5602502" y="0"/>
                </a:lnTo>
                <a:lnTo>
                  <a:pt x="5766016" y="0"/>
                </a:lnTo>
                <a:lnTo>
                  <a:pt x="5746583" y="93732"/>
                </a:lnTo>
                <a:cubicBezTo>
                  <a:pt x="5746583" y="220335"/>
                  <a:pt x="5785874" y="316975"/>
                  <a:pt x="5864456" y="383650"/>
                </a:cubicBezTo>
                <a:cubicBezTo>
                  <a:pt x="5922003" y="432465"/>
                  <a:pt x="6004751" y="456873"/>
                  <a:pt x="6112701" y="456873"/>
                </a:cubicBezTo>
                <a:cubicBezTo>
                  <a:pt x="6182154" y="456873"/>
                  <a:pt x="6250317" y="446554"/>
                  <a:pt x="6317191" y="425917"/>
                </a:cubicBezTo>
                <a:cubicBezTo>
                  <a:pt x="6384065" y="405279"/>
                  <a:pt x="6440519" y="380078"/>
                  <a:pt x="6486557" y="350312"/>
                </a:cubicBezTo>
                <a:lnTo>
                  <a:pt x="6560073" y="0"/>
                </a:lnTo>
                <a:lnTo>
                  <a:pt x="6738659" y="0"/>
                </a:lnTo>
                <a:lnTo>
                  <a:pt x="6646100" y="441990"/>
                </a:lnTo>
                <a:lnTo>
                  <a:pt x="7269989" y="441990"/>
                </a:lnTo>
                <a:lnTo>
                  <a:pt x="7300349" y="296139"/>
                </a:lnTo>
                <a:lnTo>
                  <a:pt x="6856247" y="296139"/>
                </a:lnTo>
                <a:lnTo>
                  <a:pt x="6918093" y="0"/>
                </a:lnTo>
                <a:lnTo>
                  <a:pt x="7469108" y="0"/>
                </a:lnTo>
                <a:lnTo>
                  <a:pt x="7376550" y="441990"/>
                </a:lnTo>
                <a:lnTo>
                  <a:pt x="7556334" y="441990"/>
                </a:lnTo>
                <a:lnTo>
                  <a:pt x="7648591" y="0"/>
                </a:lnTo>
                <a:lnTo>
                  <a:pt x="7968110" y="0"/>
                </a:lnTo>
                <a:lnTo>
                  <a:pt x="8109081" y="69920"/>
                </a:lnTo>
                <a:cubicBezTo>
                  <a:pt x="8176749" y="99289"/>
                  <a:pt x="8218123" y="120521"/>
                  <a:pt x="8233204" y="133618"/>
                </a:cubicBezTo>
                <a:cubicBezTo>
                  <a:pt x="8254635" y="151478"/>
                  <a:pt x="8265351" y="173306"/>
                  <a:pt x="8265351" y="199103"/>
                </a:cubicBezTo>
                <a:cubicBezTo>
                  <a:pt x="8265351" y="228868"/>
                  <a:pt x="8252254" y="254268"/>
                  <a:pt x="8226060" y="275303"/>
                </a:cubicBezTo>
                <a:cubicBezTo>
                  <a:pt x="8199866" y="296337"/>
                  <a:pt x="8157401" y="306854"/>
                  <a:pt x="8098663" y="306854"/>
                </a:cubicBezTo>
                <a:cubicBezTo>
                  <a:pt x="8028020" y="306854"/>
                  <a:pt x="7979601" y="291376"/>
                  <a:pt x="7953407" y="260420"/>
                </a:cubicBezTo>
                <a:cubicBezTo>
                  <a:pt x="7937135" y="241370"/>
                  <a:pt x="7927809" y="204659"/>
                  <a:pt x="7925428" y="150287"/>
                </a:cubicBezTo>
                <a:lnTo>
                  <a:pt x="7754572" y="159217"/>
                </a:lnTo>
                <a:cubicBezTo>
                  <a:pt x="7752985" y="217557"/>
                  <a:pt x="7763502" y="269151"/>
                  <a:pt x="7786125" y="313998"/>
                </a:cubicBezTo>
                <a:cubicBezTo>
                  <a:pt x="7808746" y="358845"/>
                  <a:pt x="7847541" y="393869"/>
                  <a:pt x="7902508" y="419071"/>
                </a:cubicBezTo>
                <a:cubicBezTo>
                  <a:pt x="7957475" y="444272"/>
                  <a:pt x="8022463" y="456873"/>
                  <a:pt x="8097472" y="456873"/>
                </a:cubicBezTo>
                <a:cubicBezTo>
                  <a:pt x="8206216" y="456873"/>
                  <a:pt x="8291048" y="429588"/>
                  <a:pt x="8351968" y="375018"/>
                </a:cubicBezTo>
                <a:cubicBezTo>
                  <a:pt x="8412888" y="320447"/>
                  <a:pt x="8443349" y="254665"/>
                  <a:pt x="8443349" y="177671"/>
                </a:cubicBezTo>
                <a:cubicBezTo>
                  <a:pt x="8443349" y="115362"/>
                  <a:pt x="8422910" y="64364"/>
                  <a:pt x="8382032" y="24676"/>
                </a:cubicBezTo>
                <a:lnTo>
                  <a:pt x="8345767" y="0"/>
                </a:lnTo>
                <a:lnTo>
                  <a:pt x="8632348" y="0"/>
                </a:lnTo>
                <a:lnTo>
                  <a:pt x="8539790" y="441990"/>
                </a:lnTo>
                <a:lnTo>
                  <a:pt x="8719574" y="441990"/>
                </a:lnTo>
                <a:lnTo>
                  <a:pt x="8801132" y="52060"/>
                </a:lnTo>
                <a:lnTo>
                  <a:pt x="9138674" y="52060"/>
                </a:lnTo>
                <a:lnTo>
                  <a:pt x="9057116" y="441990"/>
                </a:lnTo>
                <a:lnTo>
                  <a:pt x="9236900" y="441990"/>
                </a:lnTo>
                <a:lnTo>
                  <a:pt x="9329157" y="0"/>
                </a:lnTo>
                <a:lnTo>
                  <a:pt x="17589500" y="0"/>
                </a:lnTo>
                <a:lnTo>
                  <a:pt x="17589500" y="3429000"/>
                </a:lnTo>
                <a:lnTo>
                  <a:pt x="0" y="342900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9600" b="1" i="0" u="none" strike="noStrike" kern="0" cap="none" spc="0" normalizeH="0" baseline="0" noProof="0" dirty="0">
              <a:ln>
                <a:noFill/>
              </a:ln>
              <a:solidFill>
                <a:srgbClr val="FFFFFF"/>
              </a:solidFill>
              <a:effectLst/>
              <a:uLnTx/>
              <a:uFillTx/>
              <a:latin typeface="Arial"/>
              <a:ea typeface="宋体" panose="02010600030101010101" pitchFamily="2" charset="-122"/>
              <a:cs typeface="+mn-cs"/>
              <a:sym typeface="Arial"/>
            </a:endParaRPr>
          </a:p>
        </p:txBody>
      </p:sp>
    </p:spTree>
    <p:extLst>
      <p:ext uri="{BB962C8B-B14F-4D97-AF65-F5344CB8AC3E}">
        <p14:creationId xmlns:p14="http://schemas.microsoft.com/office/powerpoint/2010/main" val="1553855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B997F-C16D-FFB5-D880-07257FA859EF}"/>
            </a:ext>
          </a:extLst>
        </p:cNvPr>
        <p:cNvGrpSpPr/>
        <p:nvPr/>
      </p:nvGrpSpPr>
      <p:grpSpPr>
        <a:xfrm>
          <a:off x="0" y="0"/>
          <a:ext cx="0" cy="0"/>
          <a:chOff x="0" y="0"/>
          <a:chExt cx="0" cy="0"/>
        </a:xfrm>
      </p:grpSpPr>
      <p:pic>
        <p:nvPicPr>
          <p:cNvPr id="18" name="图片 17">
            <a:extLst>
              <a:ext uri="{FF2B5EF4-FFF2-40B4-BE49-F238E27FC236}">
                <a16:creationId xmlns:a16="http://schemas.microsoft.com/office/drawing/2014/main" id="{8CE141EF-CF9B-8EE7-00EF-81B0D73C2970}"/>
              </a:ext>
            </a:extLst>
          </p:cNvPr>
          <p:cNvPicPr>
            <a:picLocks noChangeAspect="1"/>
          </p:cNvPicPr>
          <p:nvPr/>
        </p:nvPicPr>
        <p:blipFill>
          <a:blip r:embed="rId2"/>
          <a:stretch>
            <a:fillRect/>
          </a:stretch>
        </p:blipFill>
        <p:spPr>
          <a:xfrm>
            <a:off x="38100" y="0"/>
            <a:ext cx="12153900" cy="6858000"/>
          </a:xfrm>
          <a:prstGeom prst="rect">
            <a:avLst/>
          </a:prstGeom>
        </p:spPr>
      </p:pic>
      <p:sp>
        <p:nvSpPr>
          <p:cNvPr id="15" name="任意多边形: 形状 14">
            <a:extLst>
              <a:ext uri="{FF2B5EF4-FFF2-40B4-BE49-F238E27FC236}">
                <a16:creationId xmlns:a16="http://schemas.microsoft.com/office/drawing/2014/main" id="{A28E384D-0789-E2A3-6930-DAC34DCE38EE}"/>
              </a:ext>
            </a:extLst>
          </p:cNvPr>
          <p:cNvSpPr/>
          <p:nvPr/>
        </p:nvSpPr>
        <p:spPr>
          <a:xfrm>
            <a:off x="0" y="0"/>
            <a:ext cx="22917150" cy="3429000"/>
          </a:xfrm>
          <a:custGeom>
            <a:avLst/>
            <a:gdLst/>
            <a:ahLst/>
            <a:cxnLst/>
            <a:rect l="l" t="t" r="r" b="b"/>
            <a:pathLst>
              <a:path w="17589500" h="3429000">
                <a:moveTo>
                  <a:pt x="10542818" y="3284607"/>
                </a:moveTo>
                <a:lnTo>
                  <a:pt x="10600868" y="3429000"/>
                </a:lnTo>
                <a:lnTo>
                  <a:pt x="10512620" y="3429000"/>
                </a:lnTo>
                <a:close/>
                <a:moveTo>
                  <a:pt x="0" y="0"/>
                </a:moveTo>
                <a:lnTo>
                  <a:pt x="17589500" y="0"/>
                </a:lnTo>
                <a:lnTo>
                  <a:pt x="17589500" y="3429000"/>
                </a:lnTo>
                <a:lnTo>
                  <a:pt x="14764757" y="3429000"/>
                </a:lnTo>
                <a:lnTo>
                  <a:pt x="14854666" y="2998262"/>
                </a:lnTo>
                <a:lnTo>
                  <a:pt x="14675477" y="2998262"/>
                </a:lnTo>
                <a:lnTo>
                  <a:pt x="14604634" y="3335209"/>
                </a:lnTo>
                <a:lnTo>
                  <a:pt x="14267092" y="3335209"/>
                </a:lnTo>
                <a:lnTo>
                  <a:pt x="14337340" y="2998262"/>
                </a:lnTo>
                <a:lnTo>
                  <a:pt x="14158150" y="2998262"/>
                </a:lnTo>
                <a:lnTo>
                  <a:pt x="14067948" y="3429000"/>
                </a:lnTo>
                <a:lnTo>
                  <a:pt x="13781367" y="3429000"/>
                </a:lnTo>
                <a:lnTo>
                  <a:pt x="13749171" y="3407093"/>
                </a:lnTo>
                <a:cubicBezTo>
                  <a:pt x="13717222" y="3389531"/>
                  <a:pt x="13676146" y="3369935"/>
                  <a:pt x="13625941" y="3348306"/>
                </a:cubicBezTo>
                <a:cubicBezTo>
                  <a:pt x="13559266" y="3319334"/>
                  <a:pt x="13516205" y="3296514"/>
                  <a:pt x="13496758" y="3279845"/>
                </a:cubicBezTo>
                <a:cubicBezTo>
                  <a:pt x="13477312" y="3263573"/>
                  <a:pt x="13467588" y="3242935"/>
                  <a:pt x="13467588" y="3217932"/>
                </a:cubicBezTo>
                <a:cubicBezTo>
                  <a:pt x="13467588" y="3191342"/>
                  <a:pt x="13478205" y="3169315"/>
                  <a:pt x="13499437" y="3151853"/>
                </a:cubicBezTo>
                <a:cubicBezTo>
                  <a:pt x="13520670" y="3134390"/>
                  <a:pt x="13556091" y="3125659"/>
                  <a:pt x="13605701" y="3125659"/>
                </a:cubicBezTo>
                <a:cubicBezTo>
                  <a:pt x="13656104" y="3125659"/>
                  <a:pt x="13694204" y="3136771"/>
                  <a:pt x="13720001" y="3158996"/>
                </a:cubicBezTo>
                <a:cubicBezTo>
                  <a:pt x="13745798" y="3181221"/>
                  <a:pt x="13760879" y="3213170"/>
                  <a:pt x="13765244" y="3254842"/>
                </a:cubicBezTo>
                <a:lnTo>
                  <a:pt x="13937290" y="3247103"/>
                </a:lnTo>
                <a:cubicBezTo>
                  <a:pt x="13931733" y="3167331"/>
                  <a:pt x="13900876" y="3103434"/>
                  <a:pt x="13844718" y="3055412"/>
                </a:cubicBezTo>
                <a:cubicBezTo>
                  <a:pt x="13788560" y="3007390"/>
                  <a:pt x="13709285" y="2983379"/>
                  <a:pt x="13606891" y="2983379"/>
                </a:cubicBezTo>
                <a:cubicBezTo>
                  <a:pt x="13506085" y="2983379"/>
                  <a:pt x="13429091" y="3007589"/>
                  <a:pt x="13375910" y="3056007"/>
                </a:cubicBezTo>
                <a:cubicBezTo>
                  <a:pt x="13322729" y="3104426"/>
                  <a:pt x="13296138" y="3165346"/>
                  <a:pt x="13296138" y="3238768"/>
                </a:cubicBezTo>
                <a:cubicBezTo>
                  <a:pt x="13296138" y="3280837"/>
                  <a:pt x="13305068" y="3317548"/>
                  <a:pt x="13322927" y="3348901"/>
                </a:cubicBezTo>
                <a:cubicBezTo>
                  <a:pt x="13340787" y="3380254"/>
                  <a:pt x="13365293" y="3405753"/>
                  <a:pt x="13396448" y="3425399"/>
                </a:cubicBezTo>
                <a:lnTo>
                  <a:pt x="13403710" y="3429000"/>
                </a:lnTo>
                <a:lnTo>
                  <a:pt x="13084191" y="3429000"/>
                </a:lnTo>
                <a:lnTo>
                  <a:pt x="13174099" y="2998262"/>
                </a:lnTo>
                <a:lnTo>
                  <a:pt x="12994910" y="2998262"/>
                </a:lnTo>
                <a:lnTo>
                  <a:pt x="12904708" y="3429000"/>
                </a:lnTo>
                <a:lnTo>
                  <a:pt x="12353693" y="3429000"/>
                </a:lnTo>
                <a:lnTo>
                  <a:pt x="12443650" y="2998262"/>
                </a:lnTo>
                <a:lnTo>
                  <a:pt x="12264461" y="2998262"/>
                </a:lnTo>
                <a:lnTo>
                  <a:pt x="12174259" y="3429000"/>
                </a:lnTo>
                <a:lnTo>
                  <a:pt x="11995672" y="3429000"/>
                </a:lnTo>
                <a:lnTo>
                  <a:pt x="12000738" y="3404860"/>
                </a:lnTo>
                <a:lnTo>
                  <a:pt x="11610213" y="3404860"/>
                </a:lnTo>
                <a:lnTo>
                  <a:pt x="11605188" y="3429000"/>
                </a:lnTo>
                <a:lnTo>
                  <a:pt x="11364732" y="3429000"/>
                </a:lnTo>
                <a:lnTo>
                  <a:pt x="11366283" y="3412748"/>
                </a:lnTo>
                <a:cubicBezTo>
                  <a:pt x="11373130" y="3378319"/>
                  <a:pt x="11383399" y="3345329"/>
                  <a:pt x="11397091" y="3313778"/>
                </a:cubicBezTo>
                <a:cubicBezTo>
                  <a:pt x="11424475" y="3250675"/>
                  <a:pt x="11462377" y="3204042"/>
                  <a:pt x="11510796" y="3173879"/>
                </a:cubicBezTo>
                <a:cubicBezTo>
                  <a:pt x="11559215" y="3143717"/>
                  <a:pt x="11612396" y="3128635"/>
                  <a:pt x="11670340" y="3128635"/>
                </a:cubicBezTo>
                <a:cubicBezTo>
                  <a:pt x="11719949" y="3128635"/>
                  <a:pt x="11761125" y="3141137"/>
                  <a:pt x="11793867" y="3166140"/>
                </a:cubicBezTo>
                <a:cubicBezTo>
                  <a:pt x="11826609" y="3191143"/>
                  <a:pt x="11850322" y="3228251"/>
                  <a:pt x="11865007" y="3277464"/>
                </a:cubicBezTo>
                <a:lnTo>
                  <a:pt x="12032290" y="3258414"/>
                </a:lnTo>
                <a:cubicBezTo>
                  <a:pt x="12012446" y="3168720"/>
                  <a:pt x="11972064" y="3100457"/>
                  <a:pt x="11911143" y="3053626"/>
                </a:cubicBezTo>
                <a:cubicBezTo>
                  <a:pt x="11850223" y="3006795"/>
                  <a:pt x="11769360" y="2983379"/>
                  <a:pt x="11668554" y="2983379"/>
                </a:cubicBezTo>
                <a:cubicBezTo>
                  <a:pt x="11567748" y="2983379"/>
                  <a:pt x="11480038" y="3009176"/>
                  <a:pt x="11405425" y="3060770"/>
                </a:cubicBezTo>
                <a:cubicBezTo>
                  <a:pt x="11330813" y="3112364"/>
                  <a:pt x="11273266" y="3184992"/>
                  <a:pt x="11232785" y="3278654"/>
                </a:cubicBezTo>
                <a:lnTo>
                  <a:pt x="11201615" y="3429000"/>
                </a:lnTo>
                <a:lnTo>
                  <a:pt x="11038101" y="3429000"/>
                </a:lnTo>
                <a:lnTo>
                  <a:pt x="11128010" y="2998262"/>
                </a:lnTo>
                <a:lnTo>
                  <a:pt x="10961322" y="2998262"/>
                </a:lnTo>
                <a:lnTo>
                  <a:pt x="10871311" y="3429000"/>
                </a:lnTo>
                <a:lnTo>
                  <a:pt x="10777259" y="3429000"/>
                </a:lnTo>
                <a:lnTo>
                  <a:pt x="10602944" y="2998262"/>
                </a:lnTo>
                <a:lnTo>
                  <a:pt x="10435066" y="2998262"/>
                </a:lnTo>
                <a:lnTo>
                  <a:pt x="10345158" y="3429000"/>
                </a:lnTo>
                <a:lnTo>
                  <a:pt x="10162235" y="3429000"/>
                </a:lnTo>
                <a:lnTo>
                  <a:pt x="10180272" y="3342353"/>
                </a:lnTo>
                <a:lnTo>
                  <a:pt x="9728430" y="3342353"/>
                </a:lnTo>
                <a:lnTo>
                  <a:pt x="9770102" y="3144114"/>
                </a:lnTo>
                <a:lnTo>
                  <a:pt x="10237422" y="3144114"/>
                </a:lnTo>
                <a:lnTo>
                  <a:pt x="10267783" y="2998262"/>
                </a:lnTo>
                <a:lnTo>
                  <a:pt x="9620679" y="2998262"/>
                </a:lnTo>
                <a:lnTo>
                  <a:pt x="9530770" y="3429000"/>
                </a:lnTo>
                <a:lnTo>
                  <a:pt x="0" y="342900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9600" b="1" i="0" u="none" strike="noStrike" kern="0" cap="none" spc="0" normalizeH="0" baseline="0" noProof="0" dirty="0">
              <a:ln>
                <a:noFill/>
              </a:ln>
              <a:solidFill>
                <a:srgbClr val="FFFFFF"/>
              </a:solidFill>
              <a:effectLst/>
              <a:uLnTx/>
              <a:uFillTx/>
              <a:latin typeface="Arial"/>
              <a:ea typeface="宋体" panose="02010600030101010101" pitchFamily="2" charset="-122"/>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9600" b="1" i="0" u="none" strike="noStrike" kern="0" cap="none" spc="0" normalizeH="0" baseline="0" noProof="0" dirty="0">
              <a:ln>
                <a:noFill/>
              </a:ln>
              <a:solidFill>
                <a:srgbClr val="FFFFFF"/>
              </a:solidFill>
              <a:effectLst/>
              <a:uLnTx/>
              <a:uFillTx/>
              <a:latin typeface="Arial"/>
              <a:ea typeface="宋体" panose="02010600030101010101" pitchFamily="2" charset="-122"/>
              <a:cs typeface="+mn-cs"/>
              <a:sym typeface="Arial"/>
            </a:endParaRPr>
          </a:p>
        </p:txBody>
      </p:sp>
      <p:sp>
        <p:nvSpPr>
          <p:cNvPr id="16" name="任意多边形: 形状 15">
            <a:extLst>
              <a:ext uri="{FF2B5EF4-FFF2-40B4-BE49-F238E27FC236}">
                <a16:creationId xmlns:a16="http://schemas.microsoft.com/office/drawing/2014/main" id="{5D9BA863-C851-BFD4-E27F-2157C91DE6F6}"/>
              </a:ext>
            </a:extLst>
          </p:cNvPr>
          <p:cNvSpPr/>
          <p:nvPr/>
        </p:nvSpPr>
        <p:spPr>
          <a:xfrm>
            <a:off x="-14317701" y="3429000"/>
            <a:ext cx="26654125" cy="3429000"/>
          </a:xfrm>
          <a:custGeom>
            <a:avLst/>
            <a:gdLst/>
            <a:ahLst/>
            <a:cxnLst/>
            <a:rect l="l" t="t" r="r" b="b"/>
            <a:pathLst>
              <a:path w="17589500" h="3429000">
                <a:moveTo>
                  <a:pt x="5929133" y="0"/>
                </a:moveTo>
                <a:lnTo>
                  <a:pt x="6169588" y="0"/>
                </a:lnTo>
                <a:lnTo>
                  <a:pt x="6144253" y="121712"/>
                </a:lnTo>
                <a:lnTo>
                  <a:pt x="6366899" y="121712"/>
                </a:lnTo>
                <a:lnTo>
                  <a:pt x="6340111" y="251490"/>
                </a:lnTo>
                <a:cubicBezTo>
                  <a:pt x="6310742" y="266571"/>
                  <a:pt x="6275816" y="279569"/>
                  <a:pt x="6235336" y="290483"/>
                </a:cubicBezTo>
                <a:cubicBezTo>
                  <a:pt x="6194854" y="301397"/>
                  <a:pt x="6155365" y="306854"/>
                  <a:pt x="6116868" y="306854"/>
                </a:cubicBezTo>
                <a:cubicBezTo>
                  <a:pt x="6052574" y="306854"/>
                  <a:pt x="6003759" y="289293"/>
                  <a:pt x="5970422" y="254169"/>
                </a:cubicBezTo>
                <a:cubicBezTo>
                  <a:pt x="5937084" y="219046"/>
                  <a:pt x="5920414" y="164773"/>
                  <a:pt x="5920414" y="91351"/>
                </a:cubicBezTo>
                <a:close/>
                <a:moveTo>
                  <a:pt x="5341659" y="0"/>
                </a:moveTo>
                <a:lnTo>
                  <a:pt x="5435711" y="0"/>
                </a:lnTo>
                <a:lnTo>
                  <a:pt x="5403684" y="153264"/>
                </a:lnTo>
                <a:close/>
                <a:moveTo>
                  <a:pt x="0" y="0"/>
                </a:moveTo>
                <a:lnTo>
                  <a:pt x="4095170" y="0"/>
                </a:lnTo>
                <a:lnTo>
                  <a:pt x="4002913" y="441990"/>
                </a:lnTo>
                <a:lnTo>
                  <a:pt x="4684546" y="441990"/>
                </a:lnTo>
                <a:lnTo>
                  <a:pt x="4715503" y="296139"/>
                </a:lnTo>
                <a:lnTo>
                  <a:pt x="4207701" y="296139"/>
                </a:lnTo>
                <a:lnTo>
                  <a:pt x="4262470" y="59204"/>
                </a:lnTo>
                <a:lnTo>
                  <a:pt x="4714312" y="59204"/>
                </a:lnTo>
                <a:lnTo>
                  <a:pt x="4726636" y="0"/>
                </a:lnTo>
                <a:lnTo>
                  <a:pt x="4909558" y="0"/>
                </a:lnTo>
                <a:lnTo>
                  <a:pt x="4817301" y="441990"/>
                </a:lnTo>
                <a:lnTo>
                  <a:pt x="4984584" y="441990"/>
                </a:lnTo>
                <a:lnTo>
                  <a:pt x="5077020" y="0"/>
                </a:lnTo>
                <a:lnTo>
                  <a:pt x="5165268" y="0"/>
                </a:lnTo>
                <a:lnTo>
                  <a:pt x="5342961" y="441990"/>
                </a:lnTo>
                <a:lnTo>
                  <a:pt x="5510245" y="441990"/>
                </a:lnTo>
                <a:lnTo>
                  <a:pt x="5602502" y="0"/>
                </a:lnTo>
                <a:lnTo>
                  <a:pt x="5766016" y="0"/>
                </a:lnTo>
                <a:lnTo>
                  <a:pt x="5746583" y="93732"/>
                </a:lnTo>
                <a:cubicBezTo>
                  <a:pt x="5746583" y="220335"/>
                  <a:pt x="5785874" y="316975"/>
                  <a:pt x="5864456" y="383650"/>
                </a:cubicBezTo>
                <a:cubicBezTo>
                  <a:pt x="5922003" y="432465"/>
                  <a:pt x="6004751" y="456873"/>
                  <a:pt x="6112701" y="456873"/>
                </a:cubicBezTo>
                <a:cubicBezTo>
                  <a:pt x="6182154" y="456873"/>
                  <a:pt x="6250317" y="446554"/>
                  <a:pt x="6317191" y="425917"/>
                </a:cubicBezTo>
                <a:cubicBezTo>
                  <a:pt x="6384065" y="405279"/>
                  <a:pt x="6440519" y="380078"/>
                  <a:pt x="6486557" y="350312"/>
                </a:cubicBezTo>
                <a:lnTo>
                  <a:pt x="6560073" y="0"/>
                </a:lnTo>
                <a:lnTo>
                  <a:pt x="6738659" y="0"/>
                </a:lnTo>
                <a:lnTo>
                  <a:pt x="6646100" y="441990"/>
                </a:lnTo>
                <a:lnTo>
                  <a:pt x="7269989" y="441990"/>
                </a:lnTo>
                <a:lnTo>
                  <a:pt x="7300349" y="296139"/>
                </a:lnTo>
                <a:lnTo>
                  <a:pt x="6856247" y="296139"/>
                </a:lnTo>
                <a:lnTo>
                  <a:pt x="6918093" y="0"/>
                </a:lnTo>
                <a:lnTo>
                  <a:pt x="7469108" y="0"/>
                </a:lnTo>
                <a:lnTo>
                  <a:pt x="7376550" y="441990"/>
                </a:lnTo>
                <a:lnTo>
                  <a:pt x="7556334" y="441990"/>
                </a:lnTo>
                <a:lnTo>
                  <a:pt x="7648591" y="0"/>
                </a:lnTo>
                <a:lnTo>
                  <a:pt x="7968110" y="0"/>
                </a:lnTo>
                <a:lnTo>
                  <a:pt x="8109081" y="69920"/>
                </a:lnTo>
                <a:cubicBezTo>
                  <a:pt x="8176749" y="99289"/>
                  <a:pt x="8218123" y="120521"/>
                  <a:pt x="8233204" y="133618"/>
                </a:cubicBezTo>
                <a:cubicBezTo>
                  <a:pt x="8254635" y="151478"/>
                  <a:pt x="8265351" y="173306"/>
                  <a:pt x="8265351" y="199103"/>
                </a:cubicBezTo>
                <a:cubicBezTo>
                  <a:pt x="8265351" y="228868"/>
                  <a:pt x="8252254" y="254268"/>
                  <a:pt x="8226060" y="275303"/>
                </a:cubicBezTo>
                <a:cubicBezTo>
                  <a:pt x="8199866" y="296337"/>
                  <a:pt x="8157401" y="306854"/>
                  <a:pt x="8098663" y="306854"/>
                </a:cubicBezTo>
                <a:cubicBezTo>
                  <a:pt x="8028020" y="306854"/>
                  <a:pt x="7979601" y="291376"/>
                  <a:pt x="7953407" y="260420"/>
                </a:cubicBezTo>
                <a:cubicBezTo>
                  <a:pt x="7937135" y="241370"/>
                  <a:pt x="7927809" y="204659"/>
                  <a:pt x="7925428" y="150287"/>
                </a:cubicBezTo>
                <a:lnTo>
                  <a:pt x="7754572" y="159217"/>
                </a:lnTo>
                <a:cubicBezTo>
                  <a:pt x="7752985" y="217557"/>
                  <a:pt x="7763502" y="269151"/>
                  <a:pt x="7786125" y="313998"/>
                </a:cubicBezTo>
                <a:cubicBezTo>
                  <a:pt x="7808746" y="358845"/>
                  <a:pt x="7847541" y="393869"/>
                  <a:pt x="7902508" y="419071"/>
                </a:cubicBezTo>
                <a:cubicBezTo>
                  <a:pt x="7957475" y="444272"/>
                  <a:pt x="8022463" y="456873"/>
                  <a:pt x="8097472" y="456873"/>
                </a:cubicBezTo>
                <a:cubicBezTo>
                  <a:pt x="8206216" y="456873"/>
                  <a:pt x="8291048" y="429588"/>
                  <a:pt x="8351968" y="375018"/>
                </a:cubicBezTo>
                <a:cubicBezTo>
                  <a:pt x="8412888" y="320447"/>
                  <a:pt x="8443349" y="254665"/>
                  <a:pt x="8443349" y="177671"/>
                </a:cubicBezTo>
                <a:cubicBezTo>
                  <a:pt x="8443349" y="115362"/>
                  <a:pt x="8422910" y="64364"/>
                  <a:pt x="8382032" y="24676"/>
                </a:cubicBezTo>
                <a:lnTo>
                  <a:pt x="8345767" y="0"/>
                </a:lnTo>
                <a:lnTo>
                  <a:pt x="8632348" y="0"/>
                </a:lnTo>
                <a:lnTo>
                  <a:pt x="8539790" y="441990"/>
                </a:lnTo>
                <a:lnTo>
                  <a:pt x="8719574" y="441990"/>
                </a:lnTo>
                <a:lnTo>
                  <a:pt x="8801132" y="52060"/>
                </a:lnTo>
                <a:lnTo>
                  <a:pt x="9138674" y="52060"/>
                </a:lnTo>
                <a:lnTo>
                  <a:pt x="9057116" y="441990"/>
                </a:lnTo>
                <a:lnTo>
                  <a:pt x="9236900" y="441990"/>
                </a:lnTo>
                <a:lnTo>
                  <a:pt x="9329157" y="0"/>
                </a:lnTo>
                <a:lnTo>
                  <a:pt x="17589500" y="0"/>
                </a:lnTo>
                <a:lnTo>
                  <a:pt x="17589500" y="3429000"/>
                </a:lnTo>
                <a:lnTo>
                  <a:pt x="0" y="342900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zh-CN" altLang="en-US" sz="9600" b="1" i="0" u="none" strike="noStrike" kern="0" cap="none" spc="0" normalizeH="0" baseline="0" noProof="0" dirty="0">
              <a:ln>
                <a:noFill/>
              </a:ln>
              <a:solidFill>
                <a:srgbClr val="FFFFFF"/>
              </a:solidFill>
              <a:effectLst/>
              <a:uLnTx/>
              <a:uFillTx/>
              <a:latin typeface="Arial"/>
              <a:ea typeface="宋体" panose="02010600030101010101" pitchFamily="2" charset="-122"/>
              <a:cs typeface="+mn-cs"/>
              <a:sym typeface="Arial"/>
            </a:endParaRPr>
          </a:p>
        </p:txBody>
      </p:sp>
    </p:spTree>
    <p:extLst>
      <p:ext uri="{BB962C8B-B14F-4D97-AF65-F5344CB8AC3E}">
        <p14:creationId xmlns:p14="http://schemas.microsoft.com/office/powerpoint/2010/main" val="2746977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190E1A5C-9CD0-BDC3-3BF8-01EE2C28BDDF}"/>
              </a:ext>
            </a:extLst>
          </p:cNvPr>
          <p:cNvPicPr>
            <a:picLocks noChangeAspect="1"/>
          </p:cNvPicPr>
          <p:nvPr/>
        </p:nvPicPr>
        <p:blipFill>
          <a:blip r:embed="rId2"/>
          <a:stretch>
            <a:fillRect/>
          </a:stretch>
        </p:blipFill>
        <p:spPr>
          <a:xfrm>
            <a:off x="38100" y="0"/>
            <a:ext cx="12153900" cy="6858000"/>
          </a:xfrm>
          <a:prstGeom prst="rect">
            <a:avLst/>
          </a:prstGeom>
        </p:spPr>
      </p:pic>
      <p:sp>
        <p:nvSpPr>
          <p:cNvPr id="15" name="任意多边形: 形状 14">
            <a:extLst>
              <a:ext uri="{FF2B5EF4-FFF2-40B4-BE49-F238E27FC236}">
                <a16:creationId xmlns:a16="http://schemas.microsoft.com/office/drawing/2014/main" id="{B3E10705-9D2E-9179-7261-8DF0A21DE014}"/>
              </a:ext>
            </a:extLst>
          </p:cNvPr>
          <p:cNvSpPr/>
          <p:nvPr/>
        </p:nvSpPr>
        <p:spPr>
          <a:xfrm>
            <a:off x="-5524500" y="-3429000"/>
            <a:ext cx="17589500" cy="3429000"/>
          </a:xfrm>
          <a:custGeom>
            <a:avLst/>
            <a:gdLst/>
            <a:ahLst/>
            <a:cxnLst/>
            <a:rect l="l" t="t" r="r" b="b"/>
            <a:pathLst>
              <a:path w="17589500" h="3429000">
                <a:moveTo>
                  <a:pt x="10542818" y="3284607"/>
                </a:moveTo>
                <a:lnTo>
                  <a:pt x="10600868" y="3429000"/>
                </a:lnTo>
                <a:lnTo>
                  <a:pt x="10512620" y="3429000"/>
                </a:lnTo>
                <a:close/>
                <a:moveTo>
                  <a:pt x="0" y="0"/>
                </a:moveTo>
                <a:lnTo>
                  <a:pt x="17589500" y="0"/>
                </a:lnTo>
                <a:lnTo>
                  <a:pt x="17589500" y="3429000"/>
                </a:lnTo>
                <a:lnTo>
                  <a:pt x="14764757" y="3429000"/>
                </a:lnTo>
                <a:lnTo>
                  <a:pt x="14854666" y="2998262"/>
                </a:lnTo>
                <a:lnTo>
                  <a:pt x="14675477" y="2998262"/>
                </a:lnTo>
                <a:lnTo>
                  <a:pt x="14604634" y="3335209"/>
                </a:lnTo>
                <a:lnTo>
                  <a:pt x="14267092" y="3335209"/>
                </a:lnTo>
                <a:lnTo>
                  <a:pt x="14337340" y="2998262"/>
                </a:lnTo>
                <a:lnTo>
                  <a:pt x="14158150" y="2998262"/>
                </a:lnTo>
                <a:lnTo>
                  <a:pt x="14067948" y="3429000"/>
                </a:lnTo>
                <a:lnTo>
                  <a:pt x="13781367" y="3429000"/>
                </a:lnTo>
                <a:lnTo>
                  <a:pt x="13749171" y="3407093"/>
                </a:lnTo>
                <a:cubicBezTo>
                  <a:pt x="13717222" y="3389531"/>
                  <a:pt x="13676146" y="3369935"/>
                  <a:pt x="13625941" y="3348306"/>
                </a:cubicBezTo>
                <a:cubicBezTo>
                  <a:pt x="13559266" y="3319334"/>
                  <a:pt x="13516205" y="3296514"/>
                  <a:pt x="13496758" y="3279845"/>
                </a:cubicBezTo>
                <a:cubicBezTo>
                  <a:pt x="13477312" y="3263573"/>
                  <a:pt x="13467588" y="3242935"/>
                  <a:pt x="13467588" y="3217932"/>
                </a:cubicBezTo>
                <a:cubicBezTo>
                  <a:pt x="13467588" y="3191342"/>
                  <a:pt x="13478205" y="3169315"/>
                  <a:pt x="13499437" y="3151853"/>
                </a:cubicBezTo>
                <a:cubicBezTo>
                  <a:pt x="13520670" y="3134390"/>
                  <a:pt x="13556091" y="3125659"/>
                  <a:pt x="13605701" y="3125659"/>
                </a:cubicBezTo>
                <a:cubicBezTo>
                  <a:pt x="13656104" y="3125659"/>
                  <a:pt x="13694204" y="3136771"/>
                  <a:pt x="13720001" y="3158996"/>
                </a:cubicBezTo>
                <a:cubicBezTo>
                  <a:pt x="13745798" y="3181221"/>
                  <a:pt x="13760879" y="3213170"/>
                  <a:pt x="13765244" y="3254842"/>
                </a:cubicBezTo>
                <a:lnTo>
                  <a:pt x="13937290" y="3247103"/>
                </a:lnTo>
                <a:cubicBezTo>
                  <a:pt x="13931733" y="3167331"/>
                  <a:pt x="13900876" y="3103434"/>
                  <a:pt x="13844718" y="3055412"/>
                </a:cubicBezTo>
                <a:cubicBezTo>
                  <a:pt x="13788560" y="3007390"/>
                  <a:pt x="13709285" y="2983379"/>
                  <a:pt x="13606891" y="2983379"/>
                </a:cubicBezTo>
                <a:cubicBezTo>
                  <a:pt x="13506085" y="2983379"/>
                  <a:pt x="13429091" y="3007589"/>
                  <a:pt x="13375910" y="3056007"/>
                </a:cubicBezTo>
                <a:cubicBezTo>
                  <a:pt x="13322729" y="3104426"/>
                  <a:pt x="13296138" y="3165346"/>
                  <a:pt x="13296138" y="3238768"/>
                </a:cubicBezTo>
                <a:cubicBezTo>
                  <a:pt x="13296138" y="3280837"/>
                  <a:pt x="13305068" y="3317548"/>
                  <a:pt x="13322927" y="3348901"/>
                </a:cubicBezTo>
                <a:cubicBezTo>
                  <a:pt x="13340787" y="3380254"/>
                  <a:pt x="13365293" y="3405753"/>
                  <a:pt x="13396448" y="3425399"/>
                </a:cubicBezTo>
                <a:lnTo>
                  <a:pt x="13403710" y="3429000"/>
                </a:lnTo>
                <a:lnTo>
                  <a:pt x="13084191" y="3429000"/>
                </a:lnTo>
                <a:lnTo>
                  <a:pt x="13174099" y="2998262"/>
                </a:lnTo>
                <a:lnTo>
                  <a:pt x="12994910" y="2998262"/>
                </a:lnTo>
                <a:lnTo>
                  <a:pt x="12904708" y="3429000"/>
                </a:lnTo>
                <a:lnTo>
                  <a:pt x="12353693" y="3429000"/>
                </a:lnTo>
                <a:lnTo>
                  <a:pt x="12443650" y="2998262"/>
                </a:lnTo>
                <a:lnTo>
                  <a:pt x="12264461" y="2998262"/>
                </a:lnTo>
                <a:lnTo>
                  <a:pt x="12174259" y="3429000"/>
                </a:lnTo>
                <a:lnTo>
                  <a:pt x="11995672" y="3429000"/>
                </a:lnTo>
                <a:lnTo>
                  <a:pt x="12000738" y="3404860"/>
                </a:lnTo>
                <a:lnTo>
                  <a:pt x="11610213" y="3404860"/>
                </a:lnTo>
                <a:lnTo>
                  <a:pt x="11605188" y="3429000"/>
                </a:lnTo>
                <a:lnTo>
                  <a:pt x="11364732" y="3429000"/>
                </a:lnTo>
                <a:lnTo>
                  <a:pt x="11366283" y="3412748"/>
                </a:lnTo>
                <a:cubicBezTo>
                  <a:pt x="11373130" y="3378319"/>
                  <a:pt x="11383399" y="3345329"/>
                  <a:pt x="11397091" y="3313778"/>
                </a:cubicBezTo>
                <a:cubicBezTo>
                  <a:pt x="11424475" y="3250675"/>
                  <a:pt x="11462377" y="3204042"/>
                  <a:pt x="11510796" y="3173879"/>
                </a:cubicBezTo>
                <a:cubicBezTo>
                  <a:pt x="11559215" y="3143717"/>
                  <a:pt x="11612396" y="3128635"/>
                  <a:pt x="11670340" y="3128635"/>
                </a:cubicBezTo>
                <a:cubicBezTo>
                  <a:pt x="11719949" y="3128635"/>
                  <a:pt x="11761125" y="3141137"/>
                  <a:pt x="11793867" y="3166140"/>
                </a:cubicBezTo>
                <a:cubicBezTo>
                  <a:pt x="11826609" y="3191143"/>
                  <a:pt x="11850322" y="3228251"/>
                  <a:pt x="11865007" y="3277464"/>
                </a:cubicBezTo>
                <a:lnTo>
                  <a:pt x="12032290" y="3258414"/>
                </a:lnTo>
                <a:cubicBezTo>
                  <a:pt x="12012446" y="3168720"/>
                  <a:pt x="11972064" y="3100457"/>
                  <a:pt x="11911143" y="3053626"/>
                </a:cubicBezTo>
                <a:cubicBezTo>
                  <a:pt x="11850223" y="3006795"/>
                  <a:pt x="11769360" y="2983379"/>
                  <a:pt x="11668554" y="2983379"/>
                </a:cubicBezTo>
                <a:cubicBezTo>
                  <a:pt x="11567748" y="2983379"/>
                  <a:pt x="11480038" y="3009176"/>
                  <a:pt x="11405425" y="3060770"/>
                </a:cubicBezTo>
                <a:cubicBezTo>
                  <a:pt x="11330813" y="3112364"/>
                  <a:pt x="11273266" y="3184992"/>
                  <a:pt x="11232785" y="3278654"/>
                </a:cubicBezTo>
                <a:lnTo>
                  <a:pt x="11201615" y="3429000"/>
                </a:lnTo>
                <a:lnTo>
                  <a:pt x="11038101" y="3429000"/>
                </a:lnTo>
                <a:lnTo>
                  <a:pt x="11128010" y="2998262"/>
                </a:lnTo>
                <a:lnTo>
                  <a:pt x="10961322" y="2998262"/>
                </a:lnTo>
                <a:lnTo>
                  <a:pt x="10871311" y="3429000"/>
                </a:lnTo>
                <a:lnTo>
                  <a:pt x="10777259" y="3429000"/>
                </a:lnTo>
                <a:lnTo>
                  <a:pt x="10602944" y="2998262"/>
                </a:lnTo>
                <a:lnTo>
                  <a:pt x="10435066" y="2998262"/>
                </a:lnTo>
                <a:lnTo>
                  <a:pt x="10345158" y="3429000"/>
                </a:lnTo>
                <a:lnTo>
                  <a:pt x="10162235" y="3429000"/>
                </a:lnTo>
                <a:lnTo>
                  <a:pt x="10180272" y="3342353"/>
                </a:lnTo>
                <a:lnTo>
                  <a:pt x="9728430" y="3342353"/>
                </a:lnTo>
                <a:lnTo>
                  <a:pt x="9770102" y="3144114"/>
                </a:lnTo>
                <a:lnTo>
                  <a:pt x="10237422" y="3144114"/>
                </a:lnTo>
                <a:lnTo>
                  <a:pt x="10267783" y="2998262"/>
                </a:lnTo>
                <a:lnTo>
                  <a:pt x="9620679" y="2998262"/>
                </a:lnTo>
                <a:lnTo>
                  <a:pt x="9530770" y="3429000"/>
                </a:lnTo>
                <a:lnTo>
                  <a:pt x="0" y="342900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600" b="1" dirty="0">
              <a:solidFill>
                <a:schemeClr val="bg1"/>
              </a:solidFill>
            </a:endParaRPr>
          </a:p>
          <a:p>
            <a:pPr algn="ctr"/>
            <a:endParaRPr lang="zh-CN" altLang="en-US" sz="9600" b="1" dirty="0"/>
          </a:p>
        </p:txBody>
      </p:sp>
      <p:sp>
        <p:nvSpPr>
          <p:cNvPr id="16" name="任意多边形: 形状 15">
            <a:extLst>
              <a:ext uri="{FF2B5EF4-FFF2-40B4-BE49-F238E27FC236}">
                <a16:creationId xmlns:a16="http://schemas.microsoft.com/office/drawing/2014/main" id="{B12C12D5-93DD-D457-0261-1ACD73B2EBD1}"/>
              </a:ext>
            </a:extLst>
          </p:cNvPr>
          <p:cNvSpPr/>
          <p:nvPr/>
        </p:nvSpPr>
        <p:spPr>
          <a:xfrm>
            <a:off x="38100" y="6858000"/>
            <a:ext cx="17589500" cy="3429000"/>
          </a:xfrm>
          <a:custGeom>
            <a:avLst/>
            <a:gdLst/>
            <a:ahLst/>
            <a:cxnLst/>
            <a:rect l="l" t="t" r="r" b="b"/>
            <a:pathLst>
              <a:path w="17589500" h="3429000">
                <a:moveTo>
                  <a:pt x="5929133" y="0"/>
                </a:moveTo>
                <a:lnTo>
                  <a:pt x="6169588" y="0"/>
                </a:lnTo>
                <a:lnTo>
                  <a:pt x="6144253" y="121712"/>
                </a:lnTo>
                <a:lnTo>
                  <a:pt x="6366899" y="121712"/>
                </a:lnTo>
                <a:lnTo>
                  <a:pt x="6340111" y="251490"/>
                </a:lnTo>
                <a:cubicBezTo>
                  <a:pt x="6310742" y="266571"/>
                  <a:pt x="6275816" y="279569"/>
                  <a:pt x="6235336" y="290483"/>
                </a:cubicBezTo>
                <a:cubicBezTo>
                  <a:pt x="6194854" y="301397"/>
                  <a:pt x="6155365" y="306854"/>
                  <a:pt x="6116868" y="306854"/>
                </a:cubicBezTo>
                <a:cubicBezTo>
                  <a:pt x="6052574" y="306854"/>
                  <a:pt x="6003759" y="289293"/>
                  <a:pt x="5970422" y="254169"/>
                </a:cubicBezTo>
                <a:cubicBezTo>
                  <a:pt x="5937084" y="219046"/>
                  <a:pt x="5920414" y="164773"/>
                  <a:pt x="5920414" y="91351"/>
                </a:cubicBezTo>
                <a:close/>
                <a:moveTo>
                  <a:pt x="5341659" y="0"/>
                </a:moveTo>
                <a:lnTo>
                  <a:pt x="5435711" y="0"/>
                </a:lnTo>
                <a:lnTo>
                  <a:pt x="5403684" y="153264"/>
                </a:lnTo>
                <a:close/>
                <a:moveTo>
                  <a:pt x="0" y="0"/>
                </a:moveTo>
                <a:lnTo>
                  <a:pt x="4095170" y="0"/>
                </a:lnTo>
                <a:lnTo>
                  <a:pt x="4002913" y="441990"/>
                </a:lnTo>
                <a:lnTo>
                  <a:pt x="4684546" y="441990"/>
                </a:lnTo>
                <a:lnTo>
                  <a:pt x="4715503" y="296139"/>
                </a:lnTo>
                <a:lnTo>
                  <a:pt x="4207701" y="296139"/>
                </a:lnTo>
                <a:lnTo>
                  <a:pt x="4262470" y="59204"/>
                </a:lnTo>
                <a:lnTo>
                  <a:pt x="4714312" y="59204"/>
                </a:lnTo>
                <a:lnTo>
                  <a:pt x="4726636" y="0"/>
                </a:lnTo>
                <a:lnTo>
                  <a:pt x="4909558" y="0"/>
                </a:lnTo>
                <a:lnTo>
                  <a:pt x="4817301" y="441990"/>
                </a:lnTo>
                <a:lnTo>
                  <a:pt x="4984584" y="441990"/>
                </a:lnTo>
                <a:lnTo>
                  <a:pt x="5077020" y="0"/>
                </a:lnTo>
                <a:lnTo>
                  <a:pt x="5165268" y="0"/>
                </a:lnTo>
                <a:lnTo>
                  <a:pt x="5342961" y="441990"/>
                </a:lnTo>
                <a:lnTo>
                  <a:pt x="5510245" y="441990"/>
                </a:lnTo>
                <a:lnTo>
                  <a:pt x="5602502" y="0"/>
                </a:lnTo>
                <a:lnTo>
                  <a:pt x="5766016" y="0"/>
                </a:lnTo>
                <a:lnTo>
                  <a:pt x="5746583" y="93732"/>
                </a:lnTo>
                <a:cubicBezTo>
                  <a:pt x="5746583" y="220335"/>
                  <a:pt x="5785874" y="316975"/>
                  <a:pt x="5864456" y="383650"/>
                </a:cubicBezTo>
                <a:cubicBezTo>
                  <a:pt x="5922003" y="432465"/>
                  <a:pt x="6004751" y="456873"/>
                  <a:pt x="6112701" y="456873"/>
                </a:cubicBezTo>
                <a:cubicBezTo>
                  <a:pt x="6182154" y="456873"/>
                  <a:pt x="6250317" y="446554"/>
                  <a:pt x="6317191" y="425917"/>
                </a:cubicBezTo>
                <a:cubicBezTo>
                  <a:pt x="6384065" y="405279"/>
                  <a:pt x="6440519" y="380078"/>
                  <a:pt x="6486557" y="350312"/>
                </a:cubicBezTo>
                <a:lnTo>
                  <a:pt x="6560073" y="0"/>
                </a:lnTo>
                <a:lnTo>
                  <a:pt x="6738659" y="0"/>
                </a:lnTo>
                <a:lnTo>
                  <a:pt x="6646100" y="441990"/>
                </a:lnTo>
                <a:lnTo>
                  <a:pt x="7269989" y="441990"/>
                </a:lnTo>
                <a:lnTo>
                  <a:pt x="7300349" y="296139"/>
                </a:lnTo>
                <a:lnTo>
                  <a:pt x="6856247" y="296139"/>
                </a:lnTo>
                <a:lnTo>
                  <a:pt x="6918093" y="0"/>
                </a:lnTo>
                <a:lnTo>
                  <a:pt x="7469108" y="0"/>
                </a:lnTo>
                <a:lnTo>
                  <a:pt x="7376550" y="441990"/>
                </a:lnTo>
                <a:lnTo>
                  <a:pt x="7556334" y="441990"/>
                </a:lnTo>
                <a:lnTo>
                  <a:pt x="7648591" y="0"/>
                </a:lnTo>
                <a:lnTo>
                  <a:pt x="7968110" y="0"/>
                </a:lnTo>
                <a:lnTo>
                  <a:pt x="8109081" y="69920"/>
                </a:lnTo>
                <a:cubicBezTo>
                  <a:pt x="8176749" y="99289"/>
                  <a:pt x="8218123" y="120521"/>
                  <a:pt x="8233204" y="133618"/>
                </a:cubicBezTo>
                <a:cubicBezTo>
                  <a:pt x="8254635" y="151478"/>
                  <a:pt x="8265351" y="173306"/>
                  <a:pt x="8265351" y="199103"/>
                </a:cubicBezTo>
                <a:cubicBezTo>
                  <a:pt x="8265351" y="228868"/>
                  <a:pt x="8252254" y="254268"/>
                  <a:pt x="8226060" y="275303"/>
                </a:cubicBezTo>
                <a:cubicBezTo>
                  <a:pt x="8199866" y="296337"/>
                  <a:pt x="8157401" y="306854"/>
                  <a:pt x="8098663" y="306854"/>
                </a:cubicBezTo>
                <a:cubicBezTo>
                  <a:pt x="8028020" y="306854"/>
                  <a:pt x="7979601" y="291376"/>
                  <a:pt x="7953407" y="260420"/>
                </a:cubicBezTo>
                <a:cubicBezTo>
                  <a:pt x="7937135" y="241370"/>
                  <a:pt x="7927809" y="204659"/>
                  <a:pt x="7925428" y="150287"/>
                </a:cubicBezTo>
                <a:lnTo>
                  <a:pt x="7754572" y="159217"/>
                </a:lnTo>
                <a:cubicBezTo>
                  <a:pt x="7752985" y="217557"/>
                  <a:pt x="7763502" y="269151"/>
                  <a:pt x="7786125" y="313998"/>
                </a:cubicBezTo>
                <a:cubicBezTo>
                  <a:pt x="7808746" y="358845"/>
                  <a:pt x="7847541" y="393869"/>
                  <a:pt x="7902508" y="419071"/>
                </a:cubicBezTo>
                <a:cubicBezTo>
                  <a:pt x="7957475" y="444272"/>
                  <a:pt x="8022463" y="456873"/>
                  <a:pt x="8097472" y="456873"/>
                </a:cubicBezTo>
                <a:cubicBezTo>
                  <a:pt x="8206216" y="456873"/>
                  <a:pt x="8291048" y="429588"/>
                  <a:pt x="8351968" y="375018"/>
                </a:cubicBezTo>
                <a:cubicBezTo>
                  <a:pt x="8412888" y="320447"/>
                  <a:pt x="8443349" y="254665"/>
                  <a:pt x="8443349" y="177671"/>
                </a:cubicBezTo>
                <a:cubicBezTo>
                  <a:pt x="8443349" y="115362"/>
                  <a:pt x="8422910" y="64364"/>
                  <a:pt x="8382032" y="24676"/>
                </a:cubicBezTo>
                <a:lnTo>
                  <a:pt x="8345767" y="0"/>
                </a:lnTo>
                <a:lnTo>
                  <a:pt x="8632348" y="0"/>
                </a:lnTo>
                <a:lnTo>
                  <a:pt x="8539790" y="441990"/>
                </a:lnTo>
                <a:lnTo>
                  <a:pt x="8719574" y="441990"/>
                </a:lnTo>
                <a:lnTo>
                  <a:pt x="8801132" y="52060"/>
                </a:lnTo>
                <a:lnTo>
                  <a:pt x="9138674" y="52060"/>
                </a:lnTo>
                <a:lnTo>
                  <a:pt x="9057116" y="441990"/>
                </a:lnTo>
                <a:lnTo>
                  <a:pt x="9236900" y="441990"/>
                </a:lnTo>
                <a:lnTo>
                  <a:pt x="9329157" y="0"/>
                </a:lnTo>
                <a:lnTo>
                  <a:pt x="17589500" y="0"/>
                </a:lnTo>
                <a:lnTo>
                  <a:pt x="17589500" y="3429000"/>
                </a:lnTo>
                <a:lnTo>
                  <a:pt x="0" y="342900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600" b="1" dirty="0"/>
          </a:p>
        </p:txBody>
      </p:sp>
      <p:pic>
        <p:nvPicPr>
          <p:cNvPr id="20" name="图片 19">
            <a:extLst>
              <a:ext uri="{FF2B5EF4-FFF2-40B4-BE49-F238E27FC236}">
                <a16:creationId xmlns:a16="http://schemas.microsoft.com/office/drawing/2014/main" id="{FAF97069-0BA8-726D-9CB4-A25F7AA780AC}"/>
              </a:ext>
            </a:extLst>
          </p:cNvPr>
          <p:cNvPicPr>
            <a:picLocks noChangeAspect="1"/>
          </p:cNvPicPr>
          <p:nvPr/>
        </p:nvPicPr>
        <p:blipFill>
          <a:blip r:embed="rId3"/>
          <a:stretch>
            <a:fillRect/>
          </a:stretch>
        </p:blipFill>
        <p:spPr>
          <a:xfrm>
            <a:off x="19050" y="7359"/>
            <a:ext cx="12192000" cy="6850641"/>
          </a:xfrm>
          <a:prstGeom prst="rect">
            <a:avLst/>
          </a:prstGeom>
        </p:spPr>
      </p:pic>
      <p:sp>
        <p:nvSpPr>
          <p:cNvPr id="22" name="文本框 21">
            <a:extLst>
              <a:ext uri="{FF2B5EF4-FFF2-40B4-BE49-F238E27FC236}">
                <a16:creationId xmlns:a16="http://schemas.microsoft.com/office/drawing/2014/main" id="{CCD47F55-6A14-CCBD-0C90-EF45F88C4CE9}"/>
              </a:ext>
            </a:extLst>
          </p:cNvPr>
          <p:cNvSpPr txBox="1"/>
          <p:nvPr/>
        </p:nvSpPr>
        <p:spPr>
          <a:xfrm>
            <a:off x="5067300" y="5067300"/>
            <a:ext cx="2298700" cy="1200329"/>
          </a:xfrm>
          <a:prstGeom prst="rect">
            <a:avLst/>
          </a:prstGeom>
          <a:noFill/>
        </p:spPr>
        <p:txBody>
          <a:bodyPr wrap="square" rtlCol="0">
            <a:spAutoFit/>
          </a:bodyPr>
          <a:lstStyle/>
          <a:p>
            <a:r>
              <a:rPr lang="zh-CN" altLang="en-US" sz="2400" dirty="0"/>
              <a:t>孙玉晗   刘凡语</a:t>
            </a:r>
            <a:endParaRPr lang="en-US" altLang="zh-CN" sz="2400" dirty="0"/>
          </a:p>
          <a:p>
            <a:r>
              <a:rPr lang="zh-CN" altLang="en-US" sz="2400" dirty="0"/>
              <a:t>丁昊      白雪松</a:t>
            </a:r>
          </a:p>
          <a:p>
            <a:endParaRPr lang="zh-CN" altLang="en-US" sz="2400" dirty="0"/>
          </a:p>
        </p:txBody>
      </p:sp>
    </p:spTree>
    <p:extLst>
      <p:ext uri="{BB962C8B-B14F-4D97-AF65-F5344CB8AC3E}">
        <p14:creationId xmlns:p14="http://schemas.microsoft.com/office/powerpoint/2010/main" val="2291318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707" r="707"/>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55285" y="-92071"/>
            <a:ext cx="11403315" cy="1446812"/>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dirty="0">
                <a:solidFill>
                  <a:srgbClr val="5A463C"/>
                </a:solidFill>
                <a:latin typeface="Noto Sans SC"/>
                <a:ea typeface="Noto Sans SC"/>
                <a:cs typeface="Noto Sans SC"/>
                <a:sym typeface="Noto Sans SC"/>
              </a:rPr>
              <a:t>English Learning: Difficulties &amp; Strategies</a:t>
            </a:r>
            <a:endParaRPr lang="en-US" sz="4000" dirty="0"/>
          </a:p>
        </p:txBody>
      </p:sp>
      <p:sp>
        <p:nvSpPr>
          <p:cNvPr id="4" name="AutoShape 4"/>
          <p:cNvSpPr/>
          <p:nvPr/>
        </p:nvSpPr>
        <p:spPr>
          <a:xfrm>
            <a:off x="3556000" y="5969000"/>
            <a:ext cx="508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dirty="0"/>
          </a:p>
        </p:txBody>
      </p:sp>
      <p:sp>
        <p:nvSpPr>
          <p:cNvPr id="5" name="AutoShape 5"/>
          <p:cNvSpPr/>
          <p:nvPr/>
        </p:nvSpPr>
        <p:spPr>
          <a:xfrm>
            <a:off x="8636000" y="6477000"/>
            <a:ext cx="1569686" cy="254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endParaRPr lang="en-US" sz="1100" dirty="0"/>
          </a:p>
        </p:txBody>
      </p:sp>
      <p:sp>
        <p:nvSpPr>
          <p:cNvPr id="7" name="文本框 6">
            <a:extLst>
              <a:ext uri="{FF2B5EF4-FFF2-40B4-BE49-F238E27FC236}">
                <a16:creationId xmlns:a16="http://schemas.microsoft.com/office/drawing/2014/main" id="{12A32C84-DB45-250C-D172-8E118CD8B6FF}"/>
              </a:ext>
            </a:extLst>
          </p:cNvPr>
          <p:cNvSpPr txBox="1"/>
          <p:nvPr/>
        </p:nvSpPr>
        <p:spPr>
          <a:xfrm>
            <a:off x="457200" y="1472710"/>
            <a:ext cx="11106150" cy="5267321"/>
          </a:xfrm>
          <a:prstGeom prst="rect">
            <a:avLst/>
          </a:prstGeom>
          <a:noFill/>
        </p:spPr>
        <p:txBody>
          <a:bodyPr wrap="square">
            <a:spAutoFit/>
          </a:bodyPr>
          <a:lstStyle/>
          <a:p>
            <a:r>
              <a:rPr lang="en-US" altLang="zh-CN" sz="3600" b="1" i="1" dirty="0"/>
              <a:t>English has become an essential skill in academic and professional life, yet many students struggle with persistent barriers that slow their progress. This survey investigates the key difficulties learners face — from vocabulary retention and speaking anxiety to limited exposure and cultural gaps — and explores practical strategies that make English learning more effective, confident, and sustainable</a:t>
            </a:r>
            <a:r>
              <a:rPr lang="en-US" altLang="zh-CN" sz="2800" dirty="0"/>
              <a:t>.</a:t>
            </a:r>
            <a:endParaRPr lang="zh-CN"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AutoShape 2"/>
          <p:cNvSpPr/>
          <p:nvPr/>
        </p:nvSpPr>
        <p:spPr>
          <a:xfrm>
            <a:off x="1016000" y="762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8800" b="1" i="0" u="none" strike="noStrike" dirty="0">
                <a:solidFill>
                  <a:srgbClr val="5A463C"/>
                </a:solidFill>
                <a:latin typeface="Noto Sans SC"/>
                <a:ea typeface="Noto Sans SC"/>
                <a:cs typeface="Noto Sans SC"/>
                <a:sym typeface="Noto Sans SC"/>
              </a:rPr>
              <a:t>Contents</a:t>
            </a:r>
            <a:endParaRPr lang="en-US" sz="8800" dirty="0"/>
          </a:p>
        </p:txBody>
      </p:sp>
      <p:cxnSp>
        <p:nvCxnSpPr>
          <p:cNvPr id="3" name="Connector 3"/>
          <p:cNvCxnSpPr/>
          <p:nvPr/>
        </p:nvCxnSpPr>
        <p:spPr>
          <a:xfrm rot="-57290">
            <a:off x="1016053" y="1644650"/>
            <a:ext cx="762000" cy="12700"/>
          </a:xfrm>
          <a:prstGeom prst="straightConnector1">
            <a:avLst/>
          </a:prstGeom>
          <a:solidFill>
            <a:srgbClr val="DEE0E3">
              <a:alpha val="100000"/>
            </a:srgbClr>
          </a:solidFill>
          <a:ln w="38100" cap="flat" cmpd="sng">
            <a:solidFill>
              <a:srgbClr val="DC96A0">
                <a:alpha val="100000"/>
              </a:srgbClr>
            </a:solidFill>
            <a:prstDash val="solid"/>
            <a:round/>
            <a:headEnd type="none" w="lg" len="lg"/>
            <a:tailEnd type="none" w="lg" len="lg"/>
          </a:ln>
        </p:spPr>
      </p:cxnSp>
      <p:sp>
        <p:nvSpPr>
          <p:cNvPr id="4" name="AutoShape 4"/>
          <p:cNvSpPr/>
          <p:nvPr/>
        </p:nvSpPr>
        <p:spPr>
          <a:xfrm>
            <a:off x="1206500" y="1962150"/>
            <a:ext cx="508000" cy="508000"/>
          </a:xfrm>
          <a:prstGeom prst="ellipse">
            <a:avLst/>
          </a:prstGeom>
          <a:solidFill>
            <a:srgbClr val="F0AAB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06500" y="1962150"/>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dirty="0">
                <a:solidFill>
                  <a:srgbClr val="5A463C"/>
                </a:solidFill>
                <a:latin typeface="Noto Sans SC"/>
                <a:ea typeface="Noto Sans SC"/>
                <a:cs typeface="Noto Sans SC"/>
                <a:sym typeface="Noto Sans SC"/>
              </a:rPr>
              <a:t>1</a:t>
            </a:r>
            <a:endParaRPr lang="en-US" sz="1100" dirty="0"/>
          </a:p>
        </p:txBody>
      </p:sp>
      <p:sp>
        <p:nvSpPr>
          <p:cNvPr id="6" name="AutoShape 6"/>
          <p:cNvSpPr/>
          <p:nvPr/>
        </p:nvSpPr>
        <p:spPr>
          <a:xfrm>
            <a:off x="1974850" y="202565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dirty="0">
                <a:solidFill>
                  <a:srgbClr val="5A463C"/>
                </a:solidFill>
                <a:latin typeface="Noto Sans SC"/>
                <a:ea typeface="Noto Sans SC"/>
                <a:cs typeface="Noto Sans SC"/>
                <a:sym typeface="Noto Sans SC"/>
              </a:rPr>
              <a:t>Background &amp; Purpose</a:t>
            </a:r>
            <a:endParaRPr lang="en-US" sz="4400" dirty="0"/>
          </a:p>
        </p:txBody>
      </p:sp>
      <p:sp>
        <p:nvSpPr>
          <p:cNvPr id="7" name="AutoShape 7"/>
          <p:cNvSpPr/>
          <p:nvPr/>
        </p:nvSpPr>
        <p:spPr>
          <a:xfrm>
            <a:off x="1206500" y="3215481"/>
            <a:ext cx="508000" cy="508000"/>
          </a:xfrm>
          <a:prstGeom prst="ellipse">
            <a:avLst/>
          </a:prstGeom>
          <a:solidFill>
            <a:srgbClr val="A0C8E6">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8" name="AutoShape 8"/>
          <p:cNvSpPr/>
          <p:nvPr/>
        </p:nvSpPr>
        <p:spPr>
          <a:xfrm>
            <a:off x="1206500" y="3215481"/>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dirty="0">
                <a:solidFill>
                  <a:srgbClr val="5A463C"/>
                </a:solidFill>
                <a:latin typeface="Noto Sans SC"/>
                <a:ea typeface="Noto Sans SC"/>
                <a:cs typeface="Noto Sans SC"/>
                <a:sym typeface="Noto Sans SC"/>
              </a:rPr>
              <a:t>2</a:t>
            </a:r>
            <a:endParaRPr lang="en-US" sz="1100" dirty="0"/>
          </a:p>
        </p:txBody>
      </p:sp>
      <p:sp>
        <p:nvSpPr>
          <p:cNvPr id="9" name="AutoShape 9"/>
          <p:cNvSpPr/>
          <p:nvPr/>
        </p:nvSpPr>
        <p:spPr>
          <a:xfrm>
            <a:off x="1974850" y="3195639"/>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dirty="0">
                <a:solidFill>
                  <a:srgbClr val="5A463C"/>
                </a:solidFill>
                <a:latin typeface="Noto Sans SC"/>
                <a:ea typeface="Noto Sans SC"/>
                <a:cs typeface="Noto Sans SC"/>
                <a:sym typeface="Noto Sans SC"/>
              </a:rPr>
              <a:t>Survey Method</a:t>
            </a:r>
            <a:endParaRPr lang="en-US" sz="4400" dirty="0"/>
          </a:p>
        </p:txBody>
      </p:sp>
      <p:sp>
        <p:nvSpPr>
          <p:cNvPr id="10" name="AutoShape 10"/>
          <p:cNvSpPr/>
          <p:nvPr/>
        </p:nvSpPr>
        <p:spPr>
          <a:xfrm>
            <a:off x="1206500" y="4379119"/>
            <a:ext cx="508000" cy="508000"/>
          </a:xfrm>
          <a:prstGeom prst="ellipse">
            <a:avLst/>
          </a:prstGeom>
          <a:solidFill>
            <a:srgbClr val="F5DC8C">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11" name="AutoShape 11"/>
          <p:cNvSpPr/>
          <p:nvPr/>
        </p:nvSpPr>
        <p:spPr>
          <a:xfrm>
            <a:off x="1206500" y="4328319"/>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dirty="0">
                <a:solidFill>
                  <a:srgbClr val="5A463C"/>
                </a:solidFill>
                <a:latin typeface="Noto Sans SC"/>
                <a:ea typeface="Noto Sans SC"/>
                <a:cs typeface="Noto Sans SC"/>
                <a:sym typeface="Noto Sans SC"/>
              </a:rPr>
              <a:t>3</a:t>
            </a:r>
            <a:endParaRPr lang="en-US" sz="1100" dirty="0"/>
          </a:p>
        </p:txBody>
      </p:sp>
      <p:sp>
        <p:nvSpPr>
          <p:cNvPr id="12" name="AutoShape 12"/>
          <p:cNvSpPr/>
          <p:nvPr/>
        </p:nvSpPr>
        <p:spPr>
          <a:xfrm>
            <a:off x="2038350" y="4395789"/>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dirty="0">
                <a:solidFill>
                  <a:srgbClr val="5A463C"/>
                </a:solidFill>
                <a:latin typeface="Noto Sans SC"/>
                <a:ea typeface="Noto Sans SC"/>
                <a:cs typeface="Noto Sans SC"/>
                <a:sym typeface="Noto Sans SC"/>
              </a:rPr>
              <a:t>Main Findings</a:t>
            </a:r>
            <a:endParaRPr lang="en-US" sz="4400" dirty="0"/>
          </a:p>
        </p:txBody>
      </p:sp>
      <p:sp>
        <p:nvSpPr>
          <p:cNvPr id="13" name="AutoShape 13"/>
          <p:cNvSpPr/>
          <p:nvPr/>
        </p:nvSpPr>
        <p:spPr>
          <a:xfrm>
            <a:off x="1206500" y="5632450"/>
            <a:ext cx="508000" cy="508000"/>
          </a:xfrm>
          <a:prstGeom prst="ellipse">
            <a:avLst/>
          </a:prstGeom>
          <a:solidFill>
            <a:srgbClr val="AAD7A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206500" y="5632450"/>
            <a:ext cx="50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5A463C"/>
                </a:solidFill>
                <a:latin typeface="Noto Sans SC"/>
                <a:ea typeface="Noto Sans SC"/>
                <a:cs typeface="Noto Sans SC"/>
                <a:sym typeface="Noto Sans SC"/>
              </a:rPr>
              <a:t>4</a:t>
            </a:r>
            <a:endParaRPr lang="en-US" sz="1100"/>
          </a:p>
        </p:txBody>
      </p:sp>
      <p:sp>
        <p:nvSpPr>
          <p:cNvPr id="15" name="AutoShape 15"/>
          <p:cNvSpPr/>
          <p:nvPr/>
        </p:nvSpPr>
        <p:spPr>
          <a:xfrm>
            <a:off x="1974850" y="5632450"/>
            <a:ext cx="74549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dirty="0">
                <a:solidFill>
                  <a:srgbClr val="5A463C"/>
                </a:solidFill>
                <a:latin typeface="Noto Sans SC"/>
                <a:ea typeface="Noto Sans SC"/>
                <a:cs typeface="Noto Sans SC"/>
                <a:sym typeface="Noto Sans SC"/>
              </a:rPr>
              <a:t>Strategies &amp; Conclusion</a:t>
            </a:r>
            <a:endParaRPr lang="en-US"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016000" y="698500"/>
            <a:ext cx="762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6600" b="1" i="0" u="none" strike="noStrike" dirty="0">
                <a:solidFill>
                  <a:srgbClr val="5A463C"/>
                </a:solidFill>
                <a:latin typeface="Noto Sans SC"/>
                <a:ea typeface="Noto Sans SC"/>
                <a:cs typeface="Noto Sans SC"/>
                <a:sym typeface="Noto Sans SC"/>
              </a:rPr>
              <a:t>Why This Survey?</a:t>
            </a:r>
            <a:endParaRPr lang="en-US" sz="6600" dirty="0"/>
          </a:p>
        </p:txBody>
      </p:sp>
      <p:cxnSp>
        <p:nvCxnSpPr>
          <p:cNvPr id="3" name="Connector 3"/>
          <p:cNvCxnSpPr/>
          <p:nvPr/>
        </p:nvCxnSpPr>
        <p:spPr>
          <a:xfrm rot="-57290">
            <a:off x="1016053" y="1454150"/>
            <a:ext cx="762000" cy="12700"/>
          </a:xfrm>
          <a:prstGeom prst="straightConnector1">
            <a:avLst/>
          </a:prstGeom>
          <a:solidFill>
            <a:srgbClr val="DEE0E3">
              <a:alpha val="100000"/>
            </a:srgbClr>
          </a:solidFill>
          <a:ln w="38100" cap="flat" cmpd="sng">
            <a:solidFill>
              <a:srgbClr val="DC96A0">
                <a:alpha val="100000"/>
              </a:srgbClr>
            </a:solidFill>
            <a:prstDash val="solid"/>
            <a:round/>
            <a:headEnd type="none" w="lg" len="lg"/>
            <a:tailEnd type="none" w="lg" len="lg"/>
          </a:ln>
        </p:spPr>
      </p:cxnSp>
      <p:sp>
        <p:nvSpPr>
          <p:cNvPr id="4" name="AutoShape 4"/>
          <p:cNvSpPr/>
          <p:nvPr/>
        </p:nvSpPr>
        <p:spPr>
          <a:xfrm>
            <a:off x="647692" y="1724767"/>
            <a:ext cx="228600" cy="208336"/>
          </a:xfrm>
          <a:prstGeom prst="ellipse">
            <a:avLst/>
          </a:prstGeom>
          <a:solidFill>
            <a:srgbClr val="F0AAB4">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5" name="AutoShape 5"/>
          <p:cNvSpPr/>
          <p:nvPr/>
        </p:nvSpPr>
        <p:spPr>
          <a:xfrm>
            <a:off x="1016000" y="1724767"/>
            <a:ext cx="11239500" cy="571501"/>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3200" b="1" i="1" u="none" strike="noStrike" dirty="0">
                <a:solidFill>
                  <a:srgbClr val="46372D"/>
                </a:solidFill>
                <a:latin typeface="Noto Sans SC"/>
                <a:ea typeface="Noto Sans SC"/>
                <a:cs typeface="Noto Sans SC"/>
                <a:sym typeface="Noto Sans SC"/>
              </a:rPr>
              <a:t>English is a key skill for study, exams, and future work.</a:t>
            </a:r>
            <a:endParaRPr lang="en-US" sz="3200" b="1" i="1" dirty="0"/>
          </a:p>
        </p:txBody>
      </p:sp>
      <p:sp>
        <p:nvSpPr>
          <p:cNvPr id="6" name="AutoShape 6"/>
          <p:cNvSpPr/>
          <p:nvPr/>
        </p:nvSpPr>
        <p:spPr>
          <a:xfrm>
            <a:off x="647693" y="2787918"/>
            <a:ext cx="228599" cy="208336"/>
          </a:xfrm>
          <a:prstGeom prst="ellipse">
            <a:avLst/>
          </a:prstGeom>
          <a:solidFill>
            <a:srgbClr val="A0C8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914784"/>
            <a:ext cx="11074400" cy="413967"/>
          </a:xfrm>
          <a:prstGeom prst="rect">
            <a:avLst/>
          </a:prstGeom>
          <a:noFill/>
          <a:ln w="12700" cap="flat" cmpd="sng">
            <a:noFill/>
            <a:prstDash val="solid"/>
            <a:round/>
          </a:ln>
        </p:spPr>
        <p:txBody>
          <a:bodyPr vert="horz" wrap="square" lIns="0" tIns="0" rIns="0" bIns="0" rtlCol="0" anchor="ctr" anchorCtr="0"/>
          <a:lstStyle/>
          <a:p>
            <a:pPr marL="0" indent="0">
              <a:lnSpc>
                <a:spcPct val="133333"/>
              </a:lnSpc>
              <a:defRPr/>
            </a:pPr>
            <a:r>
              <a:rPr lang="en-US" sz="3200" b="1" i="1" u="none" strike="noStrike" dirty="0">
                <a:solidFill>
                  <a:srgbClr val="46372D"/>
                </a:solidFill>
                <a:latin typeface="Noto Sans SC"/>
                <a:ea typeface="Noto Sans SC"/>
                <a:cs typeface="Noto Sans SC"/>
                <a:sym typeface="Noto Sans SC"/>
              </a:rPr>
              <a:t>But many students still find it difficult after years of learning.</a:t>
            </a:r>
            <a:endParaRPr lang="en-US" sz="3200" b="1" i="1" dirty="0"/>
          </a:p>
        </p:txBody>
      </p:sp>
      <p:sp>
        <p:nvSpPr>
          <p:cNvPr id="8" name="AutoShape 8"/>
          <p:cNvSpPr/>
          <p:nvPr/>
        </p:nvSpPr>
        <p:spPr>
          <a:xfrm>
            <a:off x="647693" y="3972531"/>
            <a:ext cx="228598" cy="208335"/>
          </a:xfrm>
          <a:prstGeom prst="ellipse">
            <a:avLst/>
          </a:prstGeom>
          <a:solidFill>
            <a:srgbClr val="F5DC8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22350" y="3915243"/>
            <a:ext cx="11074400" cy="943721"/>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3200" b="1" i="1" u="none" strike="noStrike" dirty="0">
                <a:solidFill>
                  <a:srgbClr val="46372D"/>
                </a:solidFill>
                <a:latin typeface="Noto Sans SC"/>
                <a:ea typeface="Noto Sans SC"/>
                <a:cs typeface="Noto Sans SC"/>
                <a:sym typeface="Noto Sans SC"/>
              </a:rPr>
              <a:t>Information online is everywhere, but which methods really work for us?</a:t>
            </a:r>
            <a:endParaRPr lang="en-US" sz="3200" b="1" i="1" dirty="0"/>
          </a:p>
        </p:txBody>
      </p:sp>
      <p:cxnSp>
        <p:nvCxnSpPr>
          <p:cNvPr id="10" name="Connector 10"/>
          <p:cNvCxnSpPr/>
          <p:nvPr/>
        </p:nvCxnSpPr>
        <p:spPr>
          <a:xfrm rot="-4297">
            <a:off x="1016004" y="5073650"/>
            <a:ext cx="10160000" cy="12700"/>
          </a:xfrm>
          <a:prstGeom prst="straightConnector1">
            <a:avLst/>
          </a:prstGeom>
          <a:solidFill>
            <a:srgbClr val="DEE0E3">
              <a:alpha val="100000"/>
            </a:srgbClr>
          </a:solidFill>
          <a:ln w="12700" cap="flat" cmpd="sng">
            <a:solidFill>
              <a:srgbClr val="C8B4A0">
                <a:alpha val="40000"/>
              </a:srgbClr>
            </a:solidFill>
            <a:prstDash val="solid"/>
            <a:round/>
            <a:headEnd type="none" w="med" len="med"/>
            <a:tailEnd type="none" w="med" len="med"/>
          </a:ln>
        </p:spPr>
      </p:cxnSp>
      <p:sp>
        <p:nvSpPr>
          <p:cNvPr id="11" name="AutoShape 11"/>
          <p:cNvSpPr/>
          <p:nvPr/>
        </p:nvSpPr>
        <p:spPr>
          <a:xfrm>
            <a:off x="1016000" y="5301036"/>
            <a:ext cx="10160008" cy="1118814"/>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2800" b="1" i="0" u="none" strike="noStrike" dirty="0">
                <a:solidFill>
                  <a:srgbClr val="5A463C"/>
                </a:solidFill>
                <a:latin typeface="Noto Sans SC"/>
                <a:ea typeface="Noto Sans SC"/>
                <a:cs typeface="Noto Sans SC"/>
                <a:sym typeface="Noto Sans SC"/>
              </a:rPr>
              <a:t>Purpose:</a:t>
            </a:r>
            <a:r>
              <a:rPr lang="en-US" sz="2800" b="0" i="0" u="none" strike="noStrike" dirty="0">
                <a:solidFill>
                  <a:srgbClr val="5A463C"/>
                </a:solidFill>
                <a:latin typeface="Noto Sans SC"/>
                <a:ea typeface="Noto Sans SC"/>
                <a:cs typeface="Noto Sans SC"/>
                <a:sym typeface="Noto Sans SC"/>
              </a:rPr>
              <a:t> </a:t>
            </a:r>
            <a:r>
              <a:rPr lang="en-US" sz="3600" b="1" i="1" dirty="0">
                <a:solidFill>
                  <a:srgbClr val="5A463C"/>
                </a:solidFill>
                <a:latin typeface="Noto Sans SC"/>
                <a:ea typeface="Noto Sans SC"/>
                <a:cs typeface="Noto Sans SC"/>
                <a:sym typeface="Noto Sans SC"/>
              </a:rPr>
              <a:t>T</a:t>
            </a:r>
            <a:r>
              <a:rPr lang="en-US" sz="3600" b="1" i="1" u="none" strike="noStrike" dirty="0">
                <a:solidFill>
                  <a:srgbClr val="5A463C"/>
                </a:solidFill>
                <a:latin typeface="Noto Sans SC"/>
                <a:ea typeface="Noto Sans SC"/>
                <a:cs typeface="Noto Sans SC"/>
                <a:sym typeface="Noto Sans SC"/>
              </a:rPr>
              <a:t>o find our common difficulties and share practical strategies.</a:t>
            </a:r>
            <a:endParaRPr lang="en-US" sz="3600" b="1"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AutoShape 2"/>
          <p:cNvSpPr/>
          <p:nvPr/>
        </p:nvSpPr>
        <p:spPr>
          <a:xfrm>
            <a:off x="767370" y="172230"/>
            <a:ext cx="8059130" cy="80196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6000" b="1" i="0" u="none" strike="noStrike" dirty="0">
                <a:solidFill>
                  <a:srgbClr val="5A463C"/>
                </a:solidFill>
                <a:latin typeface="Noto Sans SC"/>
                <a:ea typeface="Noto Sans SC"/>
                <a:cs typeface="Noto Sans SC"/>
                <a:sym typeface="Noto Sans SC"/>
              </a:rPr>
              <a:t>How I Did the Survey</a:t>
            </a:r>
            <a:endParaRPr lang="en-US" sz="6000" dirty="0"/>
          </a:p>
        </p:txBody>
      </p:sp>
      <p:cxnSp>
        <p:nvCxnSpPr>
          <p:cNvPr id="3" name="Connector 3"/>
          <p:cNvCxnSpPr/>
          <p:nvPr/>
        </p:nvCxnSpPr>
        <p:spPr>
          <a:xfrm rot="-57290">
            <a:off x="1016053" y="1454150"/>
            <a:ext cx="762000" cy="12700"/>
          </a:xfrm>
          <a:prstGeom prst="straightConnector1">
            <a:avLst/>
          </a:prstGeom>
          <a:solidFill>
            <a:srgbClr val="DEE0E3">
              <a:alpha val="100000"/>
            </a:srgbClr>
          </a:solidFill>
          <a:ln w="38100" cap="flat" cmpd="sng">
            <a:solidFill>
              <a:srgbClr val="DC96A0">
                <a:alpha val="100000"/>
              </a:srgbClr>
            </a:solidFill>
            <a:prstDash val="solid"/>
            <a:round/>
            <a:headEnd type="none" w="lg" len="lg"/>
            <a:tailEnd type="none" w="lg" len="lg"/>
          </a:ln>
        </p:spPr>
      </p:cxnSp>
      <p:sp>
        <p:nvSpPr>
          <p:cNvPr id="4" name="AutoShape 4"/>
          <p:cNvSpPr/>
          <p:nvPr/>
        </p:nvSpPr>
        <p:spPr>
          <a:xfrm>
            <a:off x="1016000" y="2286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dirty="0">
                <a:solidFill>
                  <a:srgbClr val="5A463C"/>
                </a:solidFill>
                <a:latin typeface="Noto Sans SC"/>
                <a:ea typeface="Noto Sans SC"/>
                <a:cs typeface="Noto Sans SC"/>
                <a:sym typeface="Noto Sans SC"/>
              </a:rPr>
              <a:t>Method</a:t>
            </a:r>
            <a:endParaRPr lang="en-US" sz="4400" dirty="0"/>
          </a:p>
        </p:txBody>
      </p:sp>
      <p:sp>
        <p:nvSpPr>
          <p:cNvPr id="5" name="AutoShape 5"/>
          <p:cNvSpPr/>
          <p:nvPr/>
        </p:nvSpPr>
        <p:spPr>
          <a:xfrm>
            <a:off x="1016000" y="2975807"/>
            <a:ext cx="3048000" cy="1663699"/>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2800" b="1" i="1" u="none" strike="noStrike" dirty="0">
                <a:solidFill>
                  <a:srgbClr val="46372D"/>
                </a:solidFill>
                <a:latin typeface="Noto Sans SC"/>
                <a:ea typeface="Noto Sans SC"/>
                <a:cs typeface="Noto Sans SC"/>
                <a:sym typeface="Noto Sans SC"/>
              </a:rPr>
              <a:t>Online questionnaire</a:t>
            </a:r>
            <a:endParaRPr lang="en-US" sz="2800" b="1" i="1" dirty="0"/>
          </a:p>
          <a:p>
            <a:pPr marL="0" indent="0" algn="l">
              <a:lnSpc>
                <a:spcPct val="141666"/>
              </a:lnSpc>
            </a:pPr>
            <a:r>
              <a:rPr lang="en-US" sz="2800" b="1" i="1" u="none" strike="noStrike" dirty="0">
                <a:solidFill>
                  <a:srgbClr val="46372D"/>
                </a:solidFill>
                <a:latin typeface="Noto Sans SC"/>
                <a:ea typeface="Noto Sans SC"/>
                <a:cs typeface="Noto Sans SC"/>
                <a:sym typeface="Noto Sans SC"/>
              </a:rPr>
              <a:t>with multiple-choice questions</a:t>
            </a:r>
          </a:p>
        </p:txBody>
      </p:sp>
      <p:sp>
        <p:nvSpPr>
          <p:cNvPr id="6" name="AutoShape 6"/>
          <p:cNvSpPr/>
          <p:nvPr/>
        </p:nvSpPr>
        <p:spPr>
          <a:xfrm>
            <a:off x="4502150" y="2365780"/>
            <a:ext cx="31877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dirty="0">
                <a:solidFill>
                  <a:srgbClr val="5A463C"/>
                </a:solidFill>
                <a:latin typeface="Noto Sans SC"/>
                <a:ea typeface="Noto Sans SC"/>
                <a:cs typeface="Noto Sans SC"/>
                <a:sym typeface="Noto Sans SC"/>
              </a:rPr>
              <a:t>Participants</a:t>
            </a:r>
            <a:endParaRPr lang="en-US" sz="4000" dirty="0"/>
          </a:p>
        </p:txBody>
      </p:sp>
      <p:sp>
        <p:nvSpPr>
          <p:cNvPr id="7" name="AutoShape 7"/>
          <p:cNvSpPr/>
          <p:nvPr/>
        </p:nvSpPr>
        <p:spPr>
          <a:xfrm>
            <a:off x="4572000" y="2794000"/>
            <a:ext cx="3048000" cy="221615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endParaRPr lang="en-US" sz="2800" b="1" i="1" u="none" strike="noStrike" dirty="0">
              <a:solidFill>
                <a:srgbClr val="46372D"/>
              </a:solidFill>
              <a:latin typeface="Noto Sans SC"/>
              <a:ea typeface="Noto Sans SC"/>
              <a:cs typeface="Noto Sans SC"/>
              <a:sym typeface="Noto Sans SC"/>
            </a:endParaRPr>
          </a:p>
        </p:txBody>
      </p:sp>
      <p:sp>
        <p:nvSpPr>
          <p:cNvPr id="8" name="AutoShape 8"/>
          <p:cNvSpPr/>
          <p:nvPr/>
        </p:nvSpPr>
        <p:spPr>
          <a:xfrm>
            <a:off x="8693150" y="2095500"/>
            <a:ext cx="299085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dirty="0">
                <a:solidFill>
                  <a:srgbClr val="5A463C"/>
                </a:solidFill>
                <a:latin typeface="Noto Sans SC"/>
                <a:ea typeface="Noto Sans SC"/>
                <a:cs typeface="Noto Sans SC"/>
                <a:sym typeface="Noto Sans SC"/>
              </a:rPr>
              <a:t>Responses</a:t>
            </a:r>
            <a:endParaRPr lang="en-US" sz="4000" dirty="0"/>
          </a:p>
        </p:txBody>
      </p:sp>
      <p:sp>
        <p:nvSpPr>
          <p:cNvPr id="9" name="AutoShape 9"/>
          <p:cNvSpPr/>
          <p:nvPr/>
        </p:nvSpPr>
        <p:spPr>
          <a:xfrm>
            <a:off x="8636000" y="2746780"/>
            <a:ext cx="3048000" cy="1892726"/>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altLang="zh-CN" sz="2800" b="1" i="1" u="none" strike="noStrike" dirty="0">
                <a:solidFill>
                  <a:srgbClr val="46372D"/>
                </a:solidFill>
                <a:latin typeface="Noto Sans SC"/>
                <a:ea typeface="Noto Sans SC"/>
                <a:cs typeface="Noto Sans SC"/>
                <a:sym typeface="Noto Sans SC"/>
              </a:rPr>
              <a:t>XX v</a:t>
            </a:r>
            <a:r>
              <a:rPr lang="en-US" sz="2800" b="1" i="1" u="none" strike="noStrike" dirty="0">
                <a:solidFill>
                  <a:srgbClr val="46372D"/>
                </a:solidFill>
                <a:latin typeface="Noto Sans SC"/>
                <a:ea typeface="Noto Sans SC"/>
                <a:cs typeface="Noto Sans SC"/>
                <a:sym typeface="Noto Sans SC"/>
              </a:rPr>
              <a:t>alid responses</a:t>
            </a:r>
            <a:endParaRPr lang="en-US" sz="2800" b="1" i="1" dirty="0"/>
          </a:p>
          <a:p>
            <a:pPr marL="0" indent="0" algn="l">
              <a:lnSpc>
                <a:spcPct val="141666"/>
              </a:lnSpc>
            </a:pPr>
            <a:r>
              <a:rPr lang="en-US" sz="2800" b="1" i="1" u="none" strike="noStrike" dirty="0">
                <a:solidFill>
                  <a:srgbClr val="46372D"/>
                </a:solidFill>
                <a:latin typeface="Noto Sans SC"/>
                <a:ea typeface="Noto Sans SC"/>
                <a:cs typeface="Noto Sans SC"/>
                <a:sym typeface="Noto Sans SC"/>
              </a:rPr>
              <a:t>(to be filled with real data)</a:t>
            </a:r>
          </a:p>
        </p:txBody>
      </p:sp>
      <p:sp>
        <p:nvSpPr>
          <p:cNvPr id="10" name="AutoShape 10"/>
          <p:cNvSpPr/>
          <p:nvPr/>
        </p:nvSpPr>
        <p:spPr>
          <a:xfrm>
            <a:off x="1016000" y="5410199"/>
            <a:ext cx="10160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endParaRPr lang="en-US" sz="1100" dirty="0"/>
          </a:p>
        </p:txBody>
      </p:sp>
      <p:sp>
        <p:nvSpPr>
          <p:cNvPr id="13" name="文本框 12">
            <a:extLst>
              <a:ext uri="{FF2B5EF4-FFF2-40B4-BE49-F238E27FC236}">
                <a16:creationId xmlns:a16="http://schemas.microsoft.com/office/drawing/2014/main" id="{37DEEA98-F462-A71C-A552-82D41A49E94B}"/>
              </a:ext>
            </a:extLst>
          </p:cNvPr>
          <p:cNvSpPr txBox="1"/>
          <p:nvPr/>
        </p:nvSpPr>
        <p:spPr>
          <a:xfrm>
            <a:off x="4425950" y="2778868"/>
            <a:ext cx="3098800" cy="1860638"/>
          </a:xfrm>
          <a:prstGeom prst="rect">
            <a:avLst/>
          </a:prstGeom>
          <a:noFill/>
        </p:spPr>
        <p:txBody>
          <a:bodyPr wrap="square">
            <a:spAutoFit/>
          </a:bodyPr>
          <a:lstStyle/>
          <a:p>
            <a:pPr marL="0" indent="0" algn="l">
              <a:lnSpc>
                <a:spcPct val="141666"/>
              </a:lnSpc>
              <a:defRPr/>
            </a:pPr>
            <a:r>
              <a:rPr lang="en-US" altLang="zh-CN" sz="2800" b="1" i="1" u="none" strike="noStrike" dirty="0">
                <a:solidFill>
                  <a:srgbClr val="46372D"/>
                </a:solidFill>
                <a:latin typeface="Noto Sans SC"/>
                <a:ea typeface="Noto Sans SC"/>
                <a:cs typeface="Noto Sans SC"/>
                <a:sym typeface="Noto Sans SC"/>
              </a:rPr>
              <a:t>Students in our </a:t>
            </a:r>
            <a:r>
              <a:rPr lang="en-US" altLang="zh-CN" sz="2800" b="1" i="1" u="none" strike="noStrike" dirty="0" err="1">
                <a:solidFill>
                  <a:srgbClr val="46372D"/>
                </a:solidFill>
                <a:latin typeface="Noto Sans SC"/>
                <a:ea typeface="Noto Sans SC"/>
                <a:cs typeface="Noto Sans SC"/>
                <a:sym typeface="Noto Sans SC"/>
              </a:rPr>
              <a:t>gradedifferent</a:t>
            </a:r>
            <a:r>
              <a:rPr lang="en-US" altLang="zh-CN" sz="2800" b="1" i="1" u="none" strike="noStrike" dirty="0">
                <a:solidFill>
                  <a:srgbClr val="46372D"/>
                </a:solidFill>
                <a:latin typeface="Noto Sans SC"/>
                <a:ea typeface="Noto Sans SC"/>
                <a:cs typeface="Noto Sans SC"/>
                <a:sym typeface="Noto Sans SC"/>
              </a:rPr>
              <a:t> majors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AutoShape 2"/>
          <p:cNvSpPr/>
          <p:nvPr/>
        </p:nvSpPr>
        <p:spPr>
          <a:xfrm>
            <a:off x="359627" y="61125"/>
            <a:ext cx="762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400" b="1" i="0" u="none" strike="noStrike" dirty="0">
                <a:solidFill>
                  <a:srgbClr val="5A463C"/>
                </a:solidFill>
                <a:latin typeface="Noto Sans SC"/>
                <a:ea typeface="Noto Sans SC"/>
                <a:cs typeface="Noto Sans SC"/>
                <a:sym typeface="Noto Sans SC"/>
              </a:rPr>
              <a:t>Main Findings</a:t>
            </a:r>
            <a:endParaRPr lang="en-US" sz="5400" dirty="0"/>
          </a:p>
        </p:txBody>
      </p:sp>
      <p:sp>
        <p:nvSpPr>
          <p:cNvPr id="6" name="AutoShape 3"/>
          <p:cNvSpPr/>
          <p:nvPr/>
        </p:nvSpPr>
        <p:spPr>
          <a:xfrm>
            <a:off x="7493000" y="19050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2800" dirty="0"/>
          </a:p>
        </p:txBody>
      </p:sp>
      <p:sp>
        <p:nvSpPr>
          <p:cNvPr id="4" name="AutoShape 4"/>
          <p:cNvSpPr/>
          <p:nvPr/>
        </p:nvSpPr>
        <p:spPr>
          <a:xfrm>
            <a:off x="7493000" y="2286000"/>
            <a:ext cx="3937000" cy="3913459"/>
          </a:xfrm>
          <a:prstGeom prst="rect">
            <a:avLst/>
          </a:prstGeom>
          <a:noFill/>
          <a:ln w="12700" cap="flat" cmpd="sng">
            <a:noFill/>
            <a:prstDash val="solid"/>
            <a:round/>
          </a:ln>
        </p:spPr>
        <p:txBody>
          <a:bodyPr vert="horz" wrap="square" lIns="0" tIns="0" rIns="0" bIns="0" rtlCol="0" anchor="ctr" anchorCtr="0"/>
          <a:lstStyle/>
          <a:p>
            <a:pPr marL="0" indent="0" algn="l">
              <a:lnSpc>
                <a:spcPct val="166666"/>
              </a:lnSpc>
              <a:defRPr/>
            </a:pPr>
            <a:endParaRPr lang="en-US" sz="2400" b="0" i="0" u="none" strike="noStrike" dirty="0">
              <a:solidFill>
                <a:srgbClr val="46372D"/>
              </a:solidFill>
              <a:latin typeface="Noto Sans SC"/>
              <a:ea typeface="Noto Sans SC"/>
              <a:cs typeface="Noto Sans SC"/>
              <a:sym typeface="Noto Sans SC"/>
            </a:endParaRPr>
          </a:p>
        </p:txBody>
      </p:sp>
      <p:sp>
        <p:nvSpPr>
          <p:cNvPr id="5" name="AutoShape 5"/>
          <p:cNvSpPr/>
          <p:nvPr/>
        </p:nvSpPr>
        <p:spPr>
          <a:xfrm>
            <a:off x="1016000" y="6096000"/>
            <a:ext cx="1016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graphicFrame>
        <p:nvGraphicFramePr>
          <p:cNvPr id="18" name="图表 17">
            <a:extLst>
              <a:ext uri="{FF2B5EF4-FFF2-40B4-BE49-F238E27FC236}">
                <a16:creationId xmlns:a16="http://schemas.microsoft.com/office/drawing/2014/main" id="{708C3D14-2F1B-2239-FF86-C379D919E2E9}"/>
              </a:ext>
            </a:extLst>
          </p:cNvPr>
          <p:cNvGraphicFramePr/>
          <p:nvPr>
            <p:extLst>
              <p:ext uri="{D42A27DB-BD31-4B8C-83A1-F6EECF244321}">
                <p14:modId xmlns:p14="http://schemas.microsoft.com/office/powerpoint/2010/main" val="1231133178"/>
              </p:ext>
            </p:extLst>
          </p:nvPr>
        </p:nvGraphicFramePr>
        <p:xfrm>
          <a:off x="-1143000" y="874441"/>
          <a:ext cx="7283450" cy="53485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图表 26">
            <a:extLst>
              <a:ext uri="{FF2B5EF4-FFF2-40B4-BE49-F238E27FC236}">
                <a16:creationId xmlns:a16="http://schemas.microsoft.com/office/drawing/2014/main" id="{5EA98EBE-6795-16A6-A5CD-68CF23EEBFAF}"/>
              </a:ext>
            </a:extLst>
          </p:cNvPr>
          <p:cNvGraphicFramePr/>
          <p:nvPr>
            <p:extLst>
              <p:ext uri="{D42A27DB-BD31-4B8C-83A1-F6EECF244321}">
                <p14:modId xmlns:p14="http://schemas.microsoft.com/office/powerpoint/2010/main" val="669803955"/>
              </p:ext>
            </p:extLst>
          </p:nvPr>
        </p:nvGraphicFramePr>
        <p:xfrm>
          <a:off x="5302250" y="929216"/>
          <a:ext cx="6547518" cy="568748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3159877-4D15-ADF8-8997-B16E669F6C5B}"/>
              </a:ext>
            </a:extLst>
          </p:cNvPr>
          <p:cNvPicPr>
            <a:picLocks noChangeAspect="1"/>
          </p:cNvPicPr>
          <p:nvPr/>
        </p:nvPicPr>
        <p:blipFill>
          <a:blip r:embed="rId2"/>
          <a:stretch>
            <a:fillRect/>
          </a:stretch>
        </p:blipFill>
        <p:spPr>
          <a:xfrm>
            <a:off x="0" y="0"/>
            <a:ext cx="12193044" cy="6908800"/>
          </a:xfrm>
          <a:prstGeom prst="rect">
            <a:avLst/>
          </a:prstGeom>
        </p:spPr>
      </p:pic>
      <p:sp>
        <p:nvSpPr>
          <p:cNvPr id="7" name="文本框 6">
            <a:extLst>
              <a:ext uri="{FF2B5EF4-FFF2-40B4-BE49-F238E27FC236}">
                <a16:creationId xmlns:a16="http://schemas.microsoft.com/office/drawing/2014/main" id="{5D7F1B8E-B8DF-E024-FF4F-E72CADA34C71}"/>
              </a:ext>
            </a:extLst>
          </p:cNvPr>
          <p:cNvSpPr txBox="1"/>
          <p:nvPr/>
        </p:nvSpPr>
        <p:spPr>
          <a:xfrm>
            <a:off x="0" y="-52288"/>
            <a:ext cx="10896600" cy="769441"/>
          </a:xfrm>
          <a:prstGeom prst="rect">
            <a:avLst/>
          </a:prstGeom>
          <a:noFill/>
        </p:spPr>
        <p:txBody>
          <a:bodyPr wrap="square">
            <a:spAutoFit/>
          </a:bodyPr>
          <a:lstStyle/>
          <a:p>
            <a:r>
              <a:rPr lang="zh-CN" altLang="en-US" sz="4400" dirty="0">
                <a:solidFill>
                  <a:schemeClr val="accent3">
                    <a:lumMod val="50000"/>
                  </a:schemeClr>
                </a:solidFill>
              </a:rPr>
              <a:t>However, there are also some people...</a:t>
            </a:r>
          </a:p>
        </p:txBody>
      </p:sp>
      <p:graphicFrame>
        <p:nvGraphicFramePr>
          <p:cNvPr id="10" name="图表 9">
            <a:extLst>
              <a:ext uri="{FF2B5EF4-FFF2-40B4-BE49-F238E27FC236}">
                <a16:creationId xmlns:a16="http://schemas.microsoft.com/office/drawing/2014/main" id="{8BD9DA96-CF67-0FF6-4D0B-C062F7921EF5}"/>
              </a:ext>
            </a:extLst>
          </p:cNvPr>
          <p:cNvGraphicFramePr/>
          <p:nvPr>
            <p:extLst>
              <p:ext uri="{D42A27DB-BD31-4B8C-83A1-F6EECF244321}">
                <p14:modId xmlns:p14="http://schemas.microsoft.com/office/powerpoint/2010/main" val="2564369070"/>
              </p:ext>
            </p:extLst>
          </p:nvPr>
        </p:nvGraphicFramePr>
        <p:xfrm>
          <a:off x="0" y="769441"/>
          <a:ext cx="9340850" cy="6139359"/>
        </p:xfrm>
        <a:graphic>
          <a:graphicData uri="http://schemas.openxmlformats.org/drawingml/2006/chart">
            <c:chart xmlns:c="http://schemas.openxmlformats.org/drawingml/2006/chart" xmlns:r="http://schemas.openxmlformats.org/officeDocument/2006/relationships" r:id="rId3"/>
          </a:graphicData>
        </a:graphic>
      </p:graphicFrame>
      <p:sp>
        <p:nvSpPr>
          <p:cNvPr id="11" name="文本框 10">
            <a:extLst>
              <a:ext uri="{FF2B5EF4-FFF2-40B4-BE49-F238E27FC236}">
                <a16:creationId xmlns:a16="http://schemas.microsoft.com/office/drawing/2014/main" id="{59364003-DE03-E28B-2C6C-0755FAA07241}"/>
              </a:ext>
            </a:extLst>
          </p:cNvPr>
          <p:cNvSpPr txBox="1"/>
          <p:nvPr/>
        </p:nvSpPr>
        <p:spPr>
          <a:xfrm>
            <a:off x="8966200" y="1576962"/>
            <a:ext cx="3289300" cy="4524315"/>
          </a:xfrm>
          <a:prstGeom prst="rect">
            <a:avLst/>
          </a:prstGeom>
          <a:noFill/>
        </p:spPr>
        <p:txBody>
          <a:bodyPr wrap="square" rtlCol="0">
            <a:spAutoFit/>
          </a:bodyPr>
          <a:lstStyle/>
          <a:p>
            <a:r>
              <a:rPr lang="en-US" altLang="zh-CN" sz="3600" b="1" i="1" dirty="0"/>
              <a:t>However, there is still a large number of people who love English. To them, English is so interesting.</a:t>
            </a:r>
            <a:endParaRPr lang="zh-CN" altLang="en-US" sz="3600" b="1" i="1" dirty="0"/>
          </a:p>
        </p:txBody>
      </p:sp>
    </p:spTree>
    <p:extLst>
      <p:ext uri="{BB962C8B-B14F-4D97-AF65-F5344CB8AC3E}">
        <p14:creationId xmlns:p14="http://schemas.microsoft.com/office/powerpoint/2010/main" val="240802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 r="-2000"/>
          </a:stretch>
        </a:blipFill>
        <a:effectLst/>
      </p:bgPr>
    </p:bg>
    <p:spTree>
      <p:nvGrpSpPr>
        <p:cNvPr id="1" name=""/>
        <p:cNvGrpSpPr/>
        <p:nvPr/>
      </p:nvGrpSpPr>
      <p:grpSpPr>
        <a:xfrm>
          <a:off x="0" y="0"/>
          <a:ext cx="0" cy="0"/>
          <a:chOff x="0" y="0"/>
          <a:chExt cx="0" cy="0"/>
        </a:xfrm>
      </p:grpSpPr>
      <p:sp>
        <p:nvSpPr>
          <p:cNvPr id="2" name="AutoShape 2"/>
          <p:cNvSpPr/>
          <p:nvPr/>
        </p:nvSpPr>
        <p:spPr>
          <a:xfrm>
            <a:off x="1016000" y="635000"/>
            <a:ext cx="762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dirty="0">
                <a:solidFill>
                  <a:srgbClr val="5A463C"/>
                </a:solidFill>
                <a:latin typeface="Noto Sans SC"/>
                <a:ea typeface="Noto Sans SC"/>
                <a:cs typeface="Noto Sans SC"/>
                <a:sym typeface="Noto Sans SC"/>
              </a:rPr>
              <a:t>Practical Strategies</a:t>
            </a:r>
            <a:endParaRPr lang="en-US" sz="4400" dirty="0"/>
          </a:p>
        </p:txBody>
      </p:sp>
      <p:cxnSp>
        <p:nvCxnSpPr>
          <p:cNvPr id="3" name="Connector 3"/>
          <p:cNvCxnSpPr/>
          <p:nvPr/>
        </p:nvCxnSpPr>
        <p:spPr>
          <a:xfrm rot="-57290">
            <a:off x="1016053" y="1327150"/>
            <a:ext cx="762000" cy="12700"/>
          </a:xfrm>
          <a:prstGeom prst="straightConnector1">
            <a:avLst/>
          </a:prstGeom>
          <a:solidFill>
            <a:srgbClr val="DEE0E3">
              <a:alpha val="100000"/>
            </a:srgbClr>
          </a:solidFill>
          <a:ln w="38100" cap="flat" cmpd="sng">
            <a:solidFill>
              <a:srgbClr val="DC96A0">
                <a:alpha val="100000"/>
              </a:srgbClr>
            </a:solidFill>
            <a:prstDash val="solid"/>
            <a:round/>
            <a:headEnd type="none" w="lg" len="lg"/>
            <a:tailEnd type="none" w="lg" len="lg"/>
          </a:ln>
        </p:spPr>
      </p:cxnSp>
      <p:sp>
        <p:nvSpPr>
          <p:cNvPr id="4" name="AutoShape 4"/>
          <p:cNvSpPr/>
          <p:nvPr/>
        </p:nvSpPr>
        <p:spPr>
          <a:xfrm>
            <a:off x="1016000" y="1549400"/>
            <a:ext cx="457200" cy="457200"/>
          </a:xfrm>
          <a:prstGeom prst="ellipse">
            <a:avLst/>
          </a:prstGeom>
          <a:solidFill>
            <a:srgbClr val="F0AAB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5494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dirty="0">
                <a:solidFill>
                  <a:srgbClr val="5A463C"/>
                </a:solidFill>
                <a:latin typeface="Noto Sans SC"/>
                <a:ea typeface="Noto Sans SC"/>
                <a:cs typeface="Noto Sans SC"/>
                <a:sym typeface="Noto Sans SC"/>
              </a:rPr>
              <a:t>1</a:t>
            </a:r>
            <a:endParaRPr lang="en-US" sz="1100" dirty="0"/>
          </a:p>
        </p:txBody>
      </p:sp>
      <p:sp>
        <p:nvSpPr>
          <p:cNvPr id="6" name="AutoShape 6"/>
          <p:cNvSpPr/>
          <p:nvPr/>
        </p:nvSpPr>
        <p:spPr>
          <a:xfrm>
            <a:off x="1600200" y="1600200"/>
            <a:ext cx="952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sng" strike="noStrike" dirty="0">
                <a:solidFill>
                  <a:srgbClr val="5A463C"/>
                </a:solidFill>
                <a:latin typeface="Noto Sans SC"/>
                <a:ea typeface="Noto Sans SC"/>
                <a:cs typeface="Noto Sans SC"/>
                <a:sym typeface="Noto Sans SC"/>
              </a:rPr>
              <a:t>Vocabulary: Review on a schedule</a:t>
            </a:r>
            <a:endParaRPr lang="en-US" sz="2400" b="1" u="sng" dirty="0"/>
          </a:p>
        </p:txBody>
      </p:sp>
      <p:sp>
        <p:nvSpPr>
          <p:cNvPr id="7" name="AutoShape 7"/>
          <p:cNvSpPr/>
          <p:nvPr/>
        </p:nvSpPr>
        <p:spPr>
          <a:xfrm>
            <a:off x="1619250" y="1962150"/>
            <a:ext cx="952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1" u="none" strike="noStrike" dirty="0">
                <a:solidFill>
                  <a:srgbClr val="46372D"/>
                </a:solidFill>
                <a:latin typeface="Noto Sans SC"/>
                <a:ea typeface="Noto Sans SC"/>
                <a:cs typeface="Noto Sans SC"/>
                <a:sym typeface="Noto Sans SC"/>
              </a:rPr>
              <a:t>Learn 20 new words a day, and review them on day 1, 3, and 7. Use them in example sentences.</a:t>
            </a:r>
            <a:endParaRPr lang="en-US" sz="2400" b="1" i="1" dirty="0"/>
          </a:p>
        </p:txBody>
      </p:sp>
      <p:sp>
        <p:nvSpPr>
          <p:cNvPr id="8" name="AutoShape 8"/>
          <p:cNvSpPr/>
          <p:nvPr/>
        </p:nvSpPr>
        <p:spPr>
          <a:xfrm>
            <a:off x="1016000" y="2819400"/>
            <a:ext cx="457200" cy="457200"/>
          </a:xfrm>
          <a:prstGeom prst="ellipse">
            <a:avLst/>
          </a:prstGeom>
          <a:solidFill>
            <a:srgbClr val="A0C8E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28194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dirty="0">
                <a:solidFill>
                  <a:srgbClr val="5A463C"/>
                </a:solidFill>
                <a:latin typeface="Noto Sans SC"/>
                <a:ea typeface="Noto Sans SC"/>
                <a:cs typeface="Noto Sans SC"/>
                <a:sym typeface="Noto Sans SC"/>
              </a:rPr>
              <a:t>2</a:t>
            </a:r>
            <a:endParaRPr lang="en-US" sz="1100" dirty="0"/>
          </a:p>
        </p:txBody>
      </p:sp>
      <p:sp>
        <p:nvSpPr>
          <p:cNvPr id="10" name="AutoShape 10"/>
          <p:cNvSpPr/>
          <p:nvPr/>
        </p:nvSpPr>
        <p:spPr>
          <a:xfrm>
            <a:off x="1651000" y="2892425"/>
            <a:ext cx="952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sng" strike="noStrike" dirty="0">
                <a:solidFill>
                  <a:srgbClr val="5A463C"/>
                </a:solidFill>
                <a:latin typeface="Noto Sans SC"/>
                <a:ea typeface="Noto Sans SC"/>
                <a:cs typeface="Noto Sans SC"/>
                <a:sym typeface="Noto Sans SC"/>
              </a:rPr>
              <a:t>Listening &amp; Speaking: Listen and repeat daily</a:t>
            </a:r>
            <a:endParaRPr lang="en-US" sz="2400" b="1" u="sng" dirty="0"/>
          </a:p>
        </p:txBody>
      </p:sp>
      <p:sp>
        <p:nvSpPr>
          <p:cNvPr id="11" name="AutoShape 11"/>
          <p:cNvSpPr/>
          <p:nvPr/>
        </p:nvSpPr>
        <p:spPr>
          <a:xfrm>
            <a:off x="1651000" y="3256289"/>
            <a:ext cx="9525000" cy="70737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1" strike="noStrike" dirty="0">
                <a:solidFill>
                  <a:srgbClr val="46372D"/>
                </a:solidFill>
                <a:latin typeface="Noto Sans SC"/>
                <a:ea typeface="Noto Sans SC"/>
                <a:cs typeface="Noto Sans SC"/>
                <a:sym typeface="Noto Sans SC"/>
              </a:rPr>
              <a:t>Listen to short clips 10 minutes a day. Pause and repeat out loud. Talk to yourself in English.</a:t>
            </a:r>
            <a:endParaRPr lang="en-US" sz="2400" b="1" i="1" dirty="0"/>
          </a:p>
        </p:txBody>
      </p:sp>
      <p:sp>
        <p:nvSpPr>
          <p:cNvPr id="12" name="AutoShape 12"/>
          <p:cNvSpPr/>
          <p:nvPr/>
        </p:nvSpPr>
        <p:spPr>
          <a:xfrm>
            <a:off x="1016000" y="4051300"/>
            <a:ext cx="457200" cy="457200"/>
          </a:xfrm>
          <a:prstGeom prst="ellipse">
            <a:avLst/>
          </a:prstGeom>
          <a:solidFill>
            <a:srgbClr val="F5DC8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16000" y="4051300"/>
            <a:ext cx="4572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dirty="0">
                <a:solidFill>
                  <a:srgbClr val="5A463C"/>
                </a:solidFill>
                <a:latin typeface="Noto Sans SC"/>
                <a:ea typeface="Noto Sans SC"/>
                <a:cs typeface="Noto Sans SC"/>
                <a:sym typeface="Noto Sans SC"/>
              </a:rPr>
              <a:t>3</a:t>
            </a:r>
            <a:endParaRPr lang="en-US" sz="1100" dirty="0"/>
          </a:p>
        </p:txBody>
      </p:sp>
      <p:sp>
        <p:nvSpPr>
          <p:cNvPr id="14" name="AutoShape 14"/>
          <p:cNvSpPr/>
          <p:nvPr/>
        </p:nvSpPr>
        <p:spPr>
          <a:xfrm>
            <a:off x="1619250" y="4102100"/>
            <a:ext cx="952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sng" strike="noStrike" dirty="0">
                <a:solidFill>
                  <a:srgbClr val="5A463C"/>
                </a:solidFill>
                <a:latin typeface="Noto Sans SC"/>
                <a:ea typeface="Noto Sans SC"/>
                <a:cs typeface="Noto Sans SC"/>
                <a:sym typeface="Noto Sans SC"/>
              </a:rPr>
              <a:t>Grammar: Learn through examples, not rules</a:t>
            </a:r>
            <a:endParaRPr lang="en-US" sz="2800" u="sng" dirty="0"/>
          </a:p>
        </p:txBody>
      </p:sp>
      <p:sp>
        <p:nvSpPr>
          <p:cNvPr id="15" name="AutoShape 15"/>
          <p:cNvSpPr/>
          <p:nvPr/>
        </p:nvSpPr>
        <p:spPr>
          <a:xfrm>
            <a:off x="1651000" y="4452612"/>
            <a:ext cx="952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1" u="none" strike="noStrike" dirty="0">
                <a:solidFill>
                  <a:srgbClr val="46372D"/>
                </a:solidFill>
                <a:latin typeface="Noto Sans SC"/>
                <a:ea typeface="Noto Sans SC"/>
                <a:cs typeface="Noto Sans SC"/>
                <a:sym typeface="Noto Sans SC"/>
              </a:rPr>
              <a:t>Read short articles and notice how sentences are built. Write 3 sentences each day using the pattern.</a:t>
            </a:r>
            <a:endParaRPr lang="en-US" sz="2400" b="1" i="1" dirty="0"/>
          </a:p>
        </p:txBody>
      </p:sp>
      <p:sp>
        <p:nvSpPr>
          <p:cNvPr id="16" name="AutoShape 16"/>
          <p:cNvSpPr/>
          <p:nvPr/>
        </p:nvSpPr>
        <p:spPr>
          <a:xfrm>
            <a:off x="285750" y="5784849"/>
            <a:ext cx="11723707" cy="76199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1" u="none" strike="noStrike" dirty="0">
                <a:solidFill>
                  <a:srgbClr val="B47850"/>
                </a:solidFill>
                <a:latin typeface="Noto Sans SC"/>
                <a:ea typeface="Noto Sans SC"/>
                <a:cs typeface="Noto Sans SC"/>
                <a:sym typeface="Noto Sans SC"/>
              </a:rPr>
              <a:t>The key is small, daily practice—not one long session before a test.</a:t>
            </a:r>
            <a:endParaRPr lang="en-US" sz="28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AutoShape 2"/>
          <p:cNvSpPr/>
          <p:nvPr/>
        </p:nvSpPr>
        <p:spPr>
          <a:xfrm>
            <a:off x="1016000" y="762000"/>
            <a:ext cx="762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6000" b="1" i="0" u="none" strike="noStrike" dirty="0">
                <a:solidFill>
                  <a:srgbClr val="5A463C"/>
                </a:solidFill>
                <a:latin typeface="Noto Sans SC"/>
                <a:ea typeface="Noto Sans SC"/>
                <a:cs typeface="Noto Sans SC"/>
                <a:sym typeface="Noto Sans SC"/>
              </a:rPr>
              <a:t>Conclusion</a:t>
            </a:r>
            <a:endParaRPr lang="en-US" sz="6000" dirty="0"/>
          </a:p>
        </p:txBody>
      </p:sp>
      <p:cxnSp>
        <p:nvCxnSpPr>
          <p:cNvPr id="3" name="Connector 3"/>
          <p:cNvCxnSpPr/>
          <p:nvPr/>
        </p:nvCxnSpPr>
        <p:spPr>
          <a:xfrm rot="-57290">
            <a:off x="1016053" y="1517650"/>
            <a:ext cx="762000" cy="12700"/>
          </a:xfrm>
          <a:prstGeom prst="straightConnector1">
            <a:avLst/>
          </a:prstGeom>
          <a:solidFill>
            <a:srgbClr val="DEE0E3">
              <a:alpha val="100000"/>
            </a:srgbClr>
          </a:solidFill>
          <a:ln w="38100" cap="flat" cmpd="sng">
            <a:solidFill>
              <a:srgbClr val="DC96A0">
                <a:alpha val="100000"/>
              </a:srgbClr>
            </a:solidFill>
            <a:prstDash val="solid"/>
            <a:round/>
            <a:headEnd type="none" w="lg" len="lg"/>
            <a:tailEnd type="none" w="lg" len="lg"/>
          </a:ln>
        </p:spPr>
      </p:cxnSp>
      <p:sp>
        <p:nvSpPr>
          <p:cNvPr id="4" name="AutoShape 4"/>
          <p:cNvSpPr/>
          <p:nvPr/>
        </p:nvSpPr>
        <p:spPr>
          <a:xfrm>
            <a:off x="1016000" y="2051745"/>
            <a:ext cx="177800" cy="177800"/>
          </a:xfrm>
          <a:prstGeom prst="ellipse">
            <a:avLst/>
          </a:prstGeom>
          <a:solidFill>
            <a:srgbClr val="F0AAB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384406" y="2265106"/>
            <a:ext cx="9537647" cy="462155"/>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3200" b="1" i="1" u="none" strike="noStrike" dirty="0">
                <a:solidFill>
                  <a:srgbClr val="46372D"/>
                </a:solidFill>
                <a:latin typeface="Noto Sans SC"/>
                <a:ea typeface="Noto Sans SC"/>
                <a:cs typeface="Noto Sans SC"/>
                <a:sym typeface="Noto Sans SC"/>
              </a:rPr>
              <a:t>Most students face the same three difficulties: words, listening, and grammar.</a:t>
            </a:r>
            <a:endParaRPr lang="en-US" sz="3200" b="1" i="1" dirty="0"/>
          </a:p>
        </p:txBody>
      </p:sp>
      <p:sp>
        <p:nvSpPr>
          <p:cNvPr id="6" name="AutoShape 6"/>
          <p:cNvSpPr/>
          <p:nvPr/>
        </p:nvSpPr>
        <p:spPr>
          <a:xfrm>
            <a:off x="1022350" y="3642073"/>
            <a:ext cx="177800" cy="177800"/>
          </a:xfrm>
          <a:prstGeom prst="ellipse">
            <a:avLst/>
          </a:prstGeom>
          <a:solidFill>
            <a:srgbClr val="A0C8E6">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7" name="AutoShape 7"/>
          <p:cNvSpPr/>
          <p:nvPr/>
        </p:nvSpPr>
        <p:spPr>
          <a:xfrm>
            <a:off x="1384406" y="3462441"/>
            <a:ext cx="9525000" cy="1158657"/>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3200" b="1" i="1" u="none" strike="noStrike" dirty="0">
                <a:solidFill>
                  <a:srgbClr val="46372D"/>
                </a:solidFill>
                <a:latin typeface="Noto Sans SC"/>
                <a:ea typeface="Noto Sans SC"/>
                <a:cs typeface="Noto Sans SC"/>
                <a:sym typeface="Noto Sans SC"/>
              </a:rPr>
              <a:t>The right methods — review, daily listening, and learning by examples — really help.</a:t>
            </a:r>
            <a:endParaRPr lang="en-US" sz="3200" b="1" i="1" dirty="0"/>
          </a:p>
        </p:txBody>
      </p:sp>
      <p:sp>
        <p:nvSpPr>
          <p:cNvPr id="8" name="AutoShape 8"/>
          <p:cNvSpPr/>
          <p:nvPr/>
        </p:nvSpPr>
        <p:spPr>
          <a:xfrm>
            <a:off x="1047750" y="5143501"/>
            <a:ext cx="177800" cy="177800"/>
          </a:xfrm>
          <a:prstGeom prst="ellipse">
            <a:avLst/>
          </a:prstGeom>
          <a:solidFill>
            <a:srgbClr val="F5DC8C">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9" name="AutoShape 9"/>
          <p:cNvSpPr/>
          <p:nvPr/>
        </p:nvSpPr>
        <p:spPr>
          <a:xfrm>
            <a:off x="1397053" y="4527843"/>
            <a:ext cx="9525000" cy="1956497"/>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3200" b="1" i="1" u="none" strike="noStrike" dirty="0">
                <a:solidFill>
                  <a:srgbClr val="46372D"/>
                </a:solidFill>
                <a:latin typeface="Noto Sans SC"/>
                <a:ea typeface="Noto Sans SC"/>
                <a:cs typeface="Noto Sans SC"/>
                <a:sym typeface="Noto Sans SC"/>
              </a:rPr>
              <a:t>Small steps every day matter more than cramming once in a while.</a:t>
            </a:r>
            <a:endParaRPr lang="en-US" sz="3200" b="1" i="1" dirty="0"/>
          </a:p>
        </p:txBody>
      </p:sp>
      <p:sp>
        <p:nvSpPr>
          <p:cNvPr id="10" name="AutoShape 10"/>
          <p:cNvSpPr/>
          <p:nvPr/>
        </p:nvSpPr>
        <p:spPr>
          <a:xfrm>
            <a:off x="2948413" y="5611850"/>
            <a:ext cx="10160000" cy="1638109"/>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a:solidFill>
                  <a:srgbClr val="5A463C"/>
                </a:solidFill>
                <a:latin typeface="Noto Sans SC"/>
                <a:ea typeface="Noto Sans SC"/>
                <a:cs typeface="Noto Sans SC"/>
                <a:sym typeface="Noto Sans SC"/>
              </a:rPr>
              <a:t>Start today — 20 minutes a day is enough.</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 r="-2000"/>
          </a:stretch>
        </a:blipFill>
        <a:effectLst/>
      </p:bgPr>
    </p:bg>
    <p:spTree>
      <p:nvGrpSpPr>
        <p:cNvPr id="1" name=""/>
        <p:cNvGrpSpPr/>
        <p:nvPr/>
      </p:nvGrpSpPr>
      <p:grpSpPr>
        <a:xfrm>
          <a:off x="0" y="0"/>
          <a:ext cx="0" cy="0"/>
          <a:chOff x="0" y="0"/>
          <a:chExt cx="0" cy="0"/>
        </a:xfrm>
      </p:grpSpPr>
      <p:sp>
        <p:nvSpPr>
          <p:cNvPr id="2" name="AutoShape 2"/>
          <p:cNvSpPr/>
          <p:nvPr/>
        </p:nvSpPr>
        <p:spPr>
          <a:xfrm>
            <a:off x="2375210" y="2540000"/>
            <a:ext cx="762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dirty="0">
                <a:solidFill>
                  <a:srgbClr val="5A463C"/>
                </a:solidFill>
                <a:latin typeface="Noto Sans SC"/>
                <a:ea typeface="Noto Sans SC"/>
                <a:cs typeface="Noto Sans SC"/>
                <a:sym typeface="Noto Sans SC"/>
              </a:rPr>
              <a:t>Thank You!</a:t>
            </a:r>
            <a:endParaRPr lang="en-US" sz="9600" dirty="0"/>
          </a:p>
        </p:txBody>
      </p:sp>
      <p:sp>
        <p:nvSpPr>
          <p:cNvPr id="3" name="AutoShape 3"/>
          <p:cNvSpPr/>
          <p:nvPr/>
        </p:nvSpPr>
        <p:spPr>
          <a:xfrm>
            <a:off x="2286000" y="3682999"/>
            <a:ext cx="7620000" cy="803083"/>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dirty="0">
                <a:solidFill>
                  <a:srgbClr val="B47850"/>
                </a:solidFill>
                <a:latin typeface="Noto Sans SC"/>
                <a:ea typeface="Noto Sans SC"/>
                <a:cs typeface="Noto Sans SC"/>
                <a:sym typeface="Noto Sans SC"/>
              </a:rPr>
              <a:t>Questions &amp; Discussion</a:t>
            </a:r>
            <a:endParaRPr lang="en-US" sz="32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TotalTime>
  <Words>779</Words>
  <Application>Microsoft Office PowerPoint</Application>
  <PresentationFormat>宽屏</PresentationFormat>
  <Paragraphs>75</Paragraphs>
  <Slides>12</Slides>
  <Notes>8</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12</vt:i4>
      </vt:variant>
    </vt:vector>
  </HeadingPairs>
  <TitlesOfParts>
    <vt:vector size="16"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BH01ZJ2J@hotmail.com</cp:lastModifiedBy>
  <cp:revision>10</cp:revision>
  <dcterms:modified xsi:type="dcterms:W3CDTF">2026-09-29T11:27:48Z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{"Label":"1","ContentProducer":"001191110102MACQD9K64010000","ProduceID":"7690511616886541492","ReservedCode1":"","ContentPropagator":"","PropagateID":"","ReservedCode2":""}</vt:lpwstr>
  </property>
</Properties>
</file>